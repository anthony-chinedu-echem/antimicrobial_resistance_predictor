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4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5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6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Episodes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324F"/>
                    </a:solidFill>
                    <a:latin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Enterobacter cloacae</c:v>
                  </c:pt>
                  <c:pt idx="1">
                    <c:v>E. coli</c:v>
                  </c:pt>
                  <c:pt idx="2">
                    <c:v>Acinetobacter baumannii</c:v>
                  </c:pt>
                  <c:pt idx="3">
                    <c:v>Pseudomonas aeruginosa</c:v>
                  </c:pt>
                  <c:pt idx="4">
                    <c:v>MRSA</c:v>
                  </c:pt>
                  <c:pt idx="5">
                    <c:v>Enterococcus faecium</c:v>
                  </c:pt>
                  <c:pt idx="6">
                    <c:v>Klebsiella pneumoniae</c:v>
                  </c:pt>
                  <c:pt idx="7">
                    <c:v>Proteus mirabilis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2325</c:v>
                </c:pt>
                <c:pt idx="1">
                  <c:v>2283</c:v>
                </c:pt>
                <c:pt idx="2">
                  <c:v>2260</c:v>
                </c:pt>
                <c:pt idx="3">
                  <c:v>2254</c:v>
                </c:pt>
                <c:pt idx="4">
                  <c:v>2250</c:v>
                </c:pt>
                <c:pt idx="5">
                  <c:v>2232</c:v>
                </c:pt>
                <c:pt idx="6">
                  <c:v>2206</c:v>
                </c:pt>
                <c:pt idx="7">
                  <c:v>2190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6324F"/>
                  </a:solidFill>
                  <a:latin typeface="Times New Roman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E4A56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700"/>
          <c:min val="0"/>
        </c:scaling>
        <c:delete val="0"/>
        <c:axPos val="b"/>
        <c:majorGridlines>
          <c:spPr>
            <a:ln w="9525" cap="flat">
              <a:solidFill>
                <a:srgbClr val="E7E1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C7A86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Prevalence %</c:v>
                </c:pt>
              </c:strCache>
            </c:strRef>
          </c:tx>
          <c:spPr>
            <a:solidFill>
              <a:srgbClr val="C9822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324F"/>
                    </a:solidFill>
                    <a:latin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Prior antibiotics (90d)</c:v>
                  </c:pt>
                  <c:pt idx="1">
                    <c:v>Recent hospitalization</c:v>
                  </c:pt>
                  <c:pt idx="2">
                    <c:v>ICU admission</c:v>
                  </c:pt>
                  <c:pt idx="3">
                    <c:v>Catheter present</c:v>
                  </c:pt>
                  <c:pt idx="4">
                    <c:v>Central line present</c:v>
                  </c:pt>
                  <c:pt idx="5">
                    <c:v>Nursing home resident</c:v>
                  </c:pt>
                  <c:pt idx="6">
                    <c:v>Ventilator support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60.3</c:v>
                </c:pt>
                <c:pt idx="1">
                  <c:v>29.8</c:v>
                </c:pt>
                <c:pt idx="2">
                  <c:v>19.6</c:v>
                </c:pt>
                <c:pt idx="3">
                  <c:v>22.6</c:v>
                </c:pt>
                <c:pt idx="4">
                  <c:v>15.1</c:v>
                </c:pt>
                <c:pt idx="5">
                  <c:v>12.2</c:v>
                </c:pt>
                <c:pt idx="6">
                  <c:v>8.2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6324F"/>
                  </a:solidFill>
                  <a:latin typeface="Times New Roman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E4A56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b"/>
        <c:majorGridlines>
          <c:spPr>
            <a:ln w="9525" cap="flat">
              <a:solidFill>
                <a:srgbClr val="E7E1D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C7A86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Resistance prevalence %</c:v>
                </c:pt>
              </c:strCache>
            </c:strRef>
          </c:tx>
          <c:spPr>
            <a:solidFill>
              <a:srgbClr val="B0403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6324F"/>
                    </a:solidFill>
                    <a:latin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Penicillins</c:v>
                  </c:pt>
                  <c:pt idx="1">
                    <c:v>Cephalosporins</c:v>
                  </c:pt>
                  <c:pt idx="2">
                    <c:v>Fluoroquinolones</c:v>
                  </c:pt>
                  <c:pt idx="3">
                    <c:v>Aminoglycosides</c:v>
                  </c:pt>
                  <c:pt idx="4">
                    <c:v>Glycopeptides</c:v>
                  </c:pt>
                  <c:pt idx="5">
                    <c:v>Carbapenems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70.4</c:v>
                </c:pt>
                <c:pt idx="1">
                  <c:v>62.2</c:v>
                </c:pt>
                <c:pt idx="2">
                  <c:v>57.1</c:v>
                </c:pt>
                <c:pt idx="3">
                  <c:v>43.8</c:v>
                </c:pt>
                <c:pt idx="4">
                  <c:v>35.4</c:v>
                </c:pt>
                <c:pt idx="5">
                  <c:v>31.9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050" u="none">
                  <a:solidFill>
                    <a:srgbClr val="16324F"/>
                  </a:solidFill>
                  <a:latin typeface="Times New Roman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4A56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  <c:min val="0"/>
        </c:scaling>
        <c:delete val="0"/>
        <c:axPos val="l"/>
        <c:majorGridlines>
          <c:spPr>
            <a:ln w="9525" cap="flat">
              <a:solidFill>
                <a:srgbClr val="E7E1D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C7A86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Gain importance</c:v>
                </c:pt>
              </c:strCache>
            </c:strRef>
          </c:tx>
          <c:spPr>
            <a:solidFill>
              <a:srgbClr val="16324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6324F"/>
                    </a:solidFill>
                    <a:latin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note_flag_prior_mdro</c:v>
                  </c:pt>
                  <c:pt idx="1">
                    <c:v>recent_hosp</c:v>
                  </c:pt>
                  <c:pt idx="2">
                    <c:v>nursing_home</c:v>
                  </c:pt>
                  <c:pt idx="3">
                    <c:v>prior_abx_90d</c:v>
                  </c:pt>
                  <c:pt idx="4">
                    <c:v>device_central_line</c:v>
                  </c:pt>
                  <c:pt idx="5">
                    <c:v>device_catheter</c:v>
                  </c:pt>
                  <c:pt idx="6">
                    <c:v>note_flag_recent_travel</c:v>
                  </c:pt>
                  <c:pt idx="7">
                    <c:v>note_flag_immunosuppressed</c:v>
                  </c:pt>
                  <c:pt idx="8">
                    <c:v>device_ventilator</c:v>
                  </c:pt>
                  <c:pt idx="9">
                    <c:v>icu_admission</c:v>
                  </c:pt>
                  <c:pt idx="10">
                    <c:v>month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0.42</c:v>
                </c:pt>
                <c:pt idx="1">
                  <c:v>0.179</c:v>
                </c:pt>
                <c:pt idx="2">
                  <c:v>0.06</c:v>
                </c:pt>
                <c:pt idx="3">
                  <c:v>0.059</c:v>
                </c:pt>
                <c:pt idx="4">
                  <c:v>0.058</c:v>
                </c:pt>
                <c:pt idx="5">
                  <c:v>0.048</c:v>
                </c:pt>
                <c:pt idx="6">
                  <c:v>0.043</c:v>
                </c:pt>
                <c:pt idx="7">
                  <c:v>0.042</c:v>
                </c:pt>
                <c:pt idx="8">
                  <c:v>0.039</c:v>
                </c:pt>
                <c:pt idx="9">
                  <c:v>0.028</c:v>
                </c:pt>
                <c:pt idx="10">
                  <c:v>0.024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50" u="none">
                  <a:solidFill>
                    <a:srgbClr val="16324F"/>
                  </a:solidFill>
                  <a:latin typeface="Times New Roman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3E4A56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8"/>
          <c:min val="0"/>
        </c:scaling>
        <c:delete val="0"/>
        <c:axPos val="b"/>
        <c:majorGridlines>
          <c:spPr>
            <a:ln w="9525" cap="flat">
              <a:solidFill>
                <a:srgbClr val="E7E1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C7A86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6324F"/>
                    </a:solidFill>
                    <a:latin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Cephalosporins</c:v>
                  </c:pt>
                  <c:pt idx="1">
                    <c:v>Glycopeptides</c:v>
                  </c:pt>
                  <c:pt idx="2">
                    <c:v>Fluoroquinolones</c:v>
                  </c:pt>
                  <c:pt idx="3">
                    <c:v>Aminoglycosides</c:v>
                  </c:pt>
                  <c:pt idx="4">
                    <c:v>Carbapenems</c:v>
                  </c:pt>
                  <c:pt idx="5">
                    <c:v>Penicillins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0.7242</c:v>
                </c:pt>
                <c:pt idx="1">
                  <c:v>0.7234</c:v>
                </c:pt>
                <c:pt idx="2">
                  <c:v>0.7215</c:v>
                </c:pt>
                <c:pt idx="3">
                  <c:v>0.7206</c:v>
                </c:pt>
                <c:pt idx="4">
                  <c:v>0.7157</c:v>
                </c:pt>
                <c:pt idx="5">
                  <c:v>0.6959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1" i="0" strike="noStrike" sz="1000" u="none">
                  <a:solidFill>
                    <a:srgbClr val="16324F"/>
                  </a:solidFill>
                  <a:latin typeface="Times New Roman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E4A56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  <c:min val="0"/>
        </c:scaling>
        <c:delete val="0"/>
        <c:axPos val="b"/>
        <c:majorGridlines>
          <c:spPr>
            <a:ln w="9525" cap="flat">
              <a:solidFill>
                <a:srgbClr val="E7E1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C7A86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AUC-ROC</c:v>
                </c:pt>
              </c:strCache>
            </c:strRef>
          </c:tx>
          <c:spPr>
            <a:solidFill>
              <a:srgbClr val="0E7C7B"/>
            </a:solidFill>
            <a:ln w="38100" cap="flat">
              <a:solidFill>
                <a:srgbClr val="0E7C7B"/>
              </a:solidFill>
              <a:prstDash val="solid"/>
              <a:round/>
            </a:ln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6324F"/>
                    </a:solidFill>
                    <a:latin typeface="Times New Roman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0E7C7B"/>
              </a:solidFill>
              <a:ln w="9525" cap="flat">
                <a:solidFill>
                  <a:srgbClr val="0E7C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Fold 1
(m. 12–18)</c:v>
                  </c:pt>
                  <c:pt idx="1">
                    <c:v>Fold 2
(m. 18–24)</c:v>
                  </c:pt>
                  <c:pt idx="2">
                    <c:v>Fold 3
(m. 24–30)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0.7153</c:v>
                </c:pt>
                <c:pt idx="1">
                  <c:v>0.7064</c:v>
                </c:pt>
                <c:pt idx="2">
                  <c:v>0.7061</c:v>
                </c:pt>
              </c:numCache>
            </c:numRef>
          </c:val>
          <c:smooth val="0"/>
        </c:ser>
        <c:dLbls>
          <c:numFmt formatCode="0.0000" sourceLinked="0"/>
          <c:txPr>
            <a:bodyPr/>
            <a:lstStyle/>
            <a:p>
              <a:pPr>
                <a:defRPr b="1" i="0" strike="noStrike" sz="1100" u="none">
                  <a:solidFill>
                    <a:srgbClr val="16324F"/>
                  </a:solidFill>
                  <a:latin typeface="Times New Roman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E4A56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.6"/>
        </c:scaling>
        <c:delete val="0"/>
        <c:axPos val="l"/>
        <c:majorGridlines>
          <c:spPr>
            <a:ln w="9525" cap="flat">
              <a:solidFill>
                <a:srgbClr val="E7E1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C7A86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4.png"/><Relationship Id="rId5" Type="http://schemas.openxmlformats.org/officeDocument/2006/relationships/image" Target="../media/image-5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5.png"/><Relationship Id="rId7" Type="http://schemas.openxmlformats.org/officeDocument/2006/relationships/image" Target="../media/image-6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image" Target="../media/image-14-1.png"/><Relationship Id="rId6" Type="http://schemas.openxmlformats.org/officeDocument/2006/relationships/image" Target="../media/image-14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2.png"/><Relationship Id="rId5" Type="http://schemas.openxmlformats.org/officeDocument/2006/relationships/image" Target="../media/image-19-5.png"/><Relationship Id="rId6" Type="http://schemas.openxmlformats.org/officeDocument/2006/relationships/image" Target="../media/image-19-2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2.png"/><Relationship Id="rId4" Type="http://schemas.openxmlformats.org/officeDocument/2006/relationships/image" Target="../media/image-22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2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2.png"/><Relationship Id="rId4" Type="http://schemas.openxmlformats.org/officeDocument/2006/relationships/image" Target="../media/image-3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1.png"/><Relationship Id="rId3" Type="http://schemas.openxmlformats.org/officeDocument/2006/relationships/image" Target="../media/image-33-1.png"/><Relationship Id="rId4" Type="http://schemas.openxmlformats.org/officeDocument/2006/relationships/image" Target="../media/image-33-4.png"/><Relationship Id="rId5" Type="http://schemas.openxmlformats.org/officeDocument/2006/relationships/image" Target="../media/image-3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image" Target="../media/image-3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2.png"/><Relationship Id="rId4" Type="http://schemas.openxmlformats.org/officeDocument/2006/relationships/image" Target="../media/image-37-2.png"/><Relationship Id="rId5" Type="http://schemas.openxmlformats.org/officeDocument/2006/relationships/image" Target="../media/image-37-2.png"/><Relationship Id="rId6" Type="http://schemas.openxmlformats.org/officeDocument/2006/relationships/image" Target="../media/image-37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669280" cy="5669280"/>
          </a:xfrm>
          <a:prstGeom prst="ellipse">
            <a:avLst/>
          </a:prstGeom>
          <a:solidFill>
            <a:srgbClr val="1F3F60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206240"/>
            <a:ext cx="4023360" cy="4023360"/>
          </a:xfrm>
          <a:prstGeom prst="ellipse">
            <a:avLst/>
          </a:prstGeom>
          <a:solidFill>
            <a:srgbClr val="0C1F32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4937760"/>
            <a:ext cx="2011680" cy="2011680"/>
          </a:xfrm>
          <a:prstGeom prst="ellipse">
            <a:avLst/>
          </a:prstGeom>
          <a:solidFill>
            <a:srgbClr val="0C1F3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658368"/>
            <a:ext cx="713232" cy="713232"/>
          </a:xfrm>
          <a:prstGeom prst="ellipse">
            <a:avLst/>
          </a:prstGeom>
          <a:solidFill>
            <a:srgbClr val="D6A94A"/>
          </a:solidFill>
          <a:ln/>
        </p:spPr>
      </p:sp>
      <p:pic>
        <p:nvPicPr>
          <p:cNvPr id="6" name="Image 0" descr="/home/claude/icons/shiel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548" y="743956"/>
            <a:ext cx="542056" cy="5420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777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6A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 IMPLEMENTATION  •  CLINICAL DECISION-SUPPORT PORTFOLIO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31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Antimicrobial Resistance Predictor</a:t>
            </a:r>
            <a:endParaRPr lang="en-US" sz="4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5204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DCEE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Multi-Label Machine Learning System for Empiric Antibiotic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DCEE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Resistance Risk Prediction and Antimicrobial Stewardship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22960" y="4892040"/>
            <a:ext cx="2743200" cy="18288"/>
          </a:xfrm>
          <a:prstGeom prst="rect">
            <a:avLst/>
          </a:prstGeom>
          <a:solidFill>
            <a:srgbClr val="D6A94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5074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Anthony Chinedu Echem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5486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Machine Learning Engineer &amp; Data Scientist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608076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End-to-end ML portfolio project  —  data design, modeling, temporal validation &amp; 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EXECUTIVE SUMMARY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decision-support model that outperforms</a:t>
            </a:r>
            <a:endParaRPr lang="en-US" sz="28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blind empiric prescribing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AMR Predictor is a multi-label machine learning system that estimates a patient’s probability of resistance across six antibiotic classes at the moment of empiric prescribing — before culture results return. Validated on a held-out cohort and stress-tested across three years of simulated antibiogram drift, it is designed as pharmacist-reviewed decision support, not autonomous prescribing.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2615184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88900" dist="25400" dir="5400000">
              <a:srgbClr val="3A322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3081528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7" name="Image 0" descr="/home/claude/icons/trend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3136392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41248" y="366674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0.717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4123944"/>
            <a:ext cx="2249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 AUC-ROC across 6 resistance classes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(+43.4% over 0.50 antibiogram-only baseline)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56432" y="2880360"/>
            <a:ext cx="2615184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88900" dist="25400" dir="5400000">
              <a:srgbClr val="3A3225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0" y="308152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2" name="Image 1" descr="/home/claude/icons/ale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313639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57600" y="366674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78.2%</a:t>
            </a:r>
            <a:endParaRPr lang="en-US" sz="3000" dirty="0"/>
          </a:p>
        </p:txBody>
      </p:sp>
      <p:sp>
        <p:nvSpPr>
          <p:cNvPr id="14" name="Text 10"/>
          <p:cNvSpPr txBox="1"/>
          <p:nvPr/>
        </p:nvSpPr>
        <p:spPr>
          <a:xfrm>
            <a:off x="3657600" y="4123944"/>
            <a:ext cx="2249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MDRO sensitivity — recall on multi-drug-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resistant organism episodes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72784" y="2880360"/>
            <a:ext cx="2615184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88900" dist="25400" dir="5400000">
              <a:srgbClr val="3A3225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081528"/>
            <a:ext cx="457200" cy="457200"/>
          </a:xfrm>
          <a:prstGeom prst="ellipse">
            <a:avLst/>
          </a:prstGeom>
          <a:solidFill>
            <a:srgbClr val="B0403F"/>
          </a:solidFill>
          <a:ln/>
        </p:spPr>
      </p:sp>
      <p:pic>
        <p:nvPicPr>
          <p:cNvPr id="17" name="Image 2" descr="/home/claude/icons/refres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3136392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73952" y="366674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1.29%</a:t>
            </a:r>
            <a:endParaRPr lang="en-US" sz="3000" dirty="0"/>
          </a:p>
        </p:txBody>
      </p:sp>
      <p:sp>
        <p:nvSpPr>
          <p:cNvPr id="19" name="Text 14"/>
          <p:cNvSpPr txBox="1"/>
          <p:nvPr/>
        </p:nvSpPr>
        <p:spPr>
          <a:xfrm>
            <a:off x="6473952" y="4123944"/>
            <a:ext cx="2249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AUC drift, first-to-last rolling-origin fold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(retention target: ≤ 5%)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089136" y="2880360"/>
            <a:ext cx="2615184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88900" dist="25400" dir="5400000">
              <a:srgbClr val="3A3225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0304" y="3081528"/>
            <a:ext cx="457200" cy="457200"/>
          </a:xfrm>
          <a:prstGeom prst="ellipse">
            <a:avLst/>
          </a:prstGeom>
          <a:solidFill>
            <a:srgbClr val="C9822B"/>
          </a:solidFill>
          <a:ln/>
        </p:spPr>
      </p:sp>
      <p:pic>
        <p:nvPicPr>
          <p:cNvPr id="22" name="Image 3" descr="/home/claude/icons/databa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5168" y="3136392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90304" y="366674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18,000</a:t>
            </a:r>
            <a:endParaRPr lang="en-US" sz="3000" dirty="0"/>
          </a:p>
        </p:txBody>
      </p:sp>
      <p:sp>
        <p:nvSpPr>
          <p:cNvPr id="24" name="Text 18"/>
          <p:cNvSpPr txBox="1"/>
          <p:nvPr/>
        </p:nvSpPr>
        <p:spPr>
          <a:xfrm>
            <a:off x="9290304" y="4123944"/>
            <a:ext cx="2249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Labeled culture episodes across 36 simulated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months; 13,500 / 4,500 train/test split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40080" y="507492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16324F"/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294376"/>
            <a:ext cx="566928" cy="566928"/>
          </a:xfrm>
          <a:prstGeom prst="ellipse">
            <a:avLst/>
          </a:prstGeom>
          <a:solidFill>
            <a:srgbClr val="D6A94A"/>
          </a:solidFill>
          <a:ln/>
        </p:spPr>
      </p:sp>
      <p:pic>
        <p:nvPicPr>
          <p:cNvPr id="27" name="Image 4" descr="/home/claude/icons/targe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711" y="5362407"/>
            <a:ext cx="430865" cy="43086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600200" y="5230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A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Bottom line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600200" y="548640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single structured-data model, retrained monthly on routine EHR fields, keeps clinically useful discrimination stable for at least 30 months without full retraining — a realistic stewardship-program deployment story.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EXECUTIVE SUMMARY</a:t>
            </a:r>
            <a:endParaRPr lang="en-US" sz="850" dirty="0"/>
          </a:p>
        </p:txBody>
      </p:sp>
      <p:sp>
        <p:nvSpPr>
          <p:cNvPr id="31" name="Text 24"/>
          <p:cNvSpPr txBox="1"/>
          <p:nvPr/>
        </p:nvSpPr>
        <p:spPr>
          <a:xfrm>
            <a:off x="6245352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ANTHONY CHINEDU ECHEM  •  AMR RESISTANCE PREDICTOR</a:t>
            </a:r>
            <a:endParaRPr lang="en-US" sz="850" dirty="0"/>
          </a:p>
        </p:txBody>
      </p:sp>
      <p:sp>
        <p:nvSpPr>
          <p:cNvPr id="32" name="Text 25"/>
          <p:cNvSpPr txBox="1"/>
          <p:nvPr/>
        </p:nvSpPr>
        <p:spPr>
          <a:xfrm>
            <a:off x="117317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Presentation 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30552"/>
            <a:ext cx="512064" cy="512064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/home/claude/icons/stethoscop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696" y="2192000"/>
            <a:ext cx="389169" cy="38916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2057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2402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Clinical Problem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25146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empiric prescribing needs predictive support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0080" y="3008376"/>
            <a:ext cx="52578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41248" y="3172968"/>
            <a:ext cx="512064" cy="512064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2" name="Image 1" descr="/home/claude/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696" y="3234416"/>
            <a:ext cx="389169" cy="38916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08760" y="3099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508760" y="328269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&amp; Cohort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1508760" y="35570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18,000 culture episodes, structured EHR features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40080" y="4050792"/>
            <a:ext cx="52578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1248" y="4215384"/>
            <a:ext cx="512064" cy="512064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8" name="Image 2" descr="/home/claude/icons/filt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696" y="4276832"/>
            <a:ext cx="389169" cy="38916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08760" y="41422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1508760" y="432511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1508760" y="45994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raw encounter data to an 11-feature vector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40080" y="5093208"/>
            <a:ext cx="52578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41248" y="5257800"/>
            <a:ext cx="512064" cy="512064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24" name="Image 3" descr="/home/claude/icons/cpu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696" y="5319248"/>
            <a:ext cx="389169" cy="389169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508760" y="5184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1508760" y="53675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Modeling Approach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1508760" y="56418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Six-class binary-relevance XGBoost architecture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263640" y="1965960"/>
            <a:ext cx="52578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464808" y="2130552"/>
            <a:ext cx="512064" cy="512064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30" name="Image 4" descr="/home/claude/icons/barchar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6256" y="2192000"/>
            <a:ext cx="389169" cy="389169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132320" y="2057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150" dirty="0"/>
          </a:p>
        </p:txBody>
      </p:sp>
      <p:sp>
        <p:nvSpPr>
          <p:cNvPr id="32" name="Text 25"/>
          <p:cNvSpPr txBox="1"/>
          <p:nvPr/>
        </p:nvSpPr>
        <p:spPr>
          <a:xfrm>
            <a:off x="7132320" y="22402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 &amp; Validation</a:t>
            </a:r>
            <a:endParaRPr lang="en-US" sz="1600" dirty="0"/>
          </a:p>
        </p:txBody>
      </p:sp>
      <p:sp>
        <p:nvSpPr>
          <p:cNvPr id="33" name="Text 26"/>
          <p:cNvSpPr txBox="1"/>
          <p:nvPr/>
        </p:nvSpPr>
        <p:spPr>
          <a:xfrm>
            <a:off x="7132320" y="25146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Metrics, per-class results, baseline comparison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263640" y="3008376"/>
            <a:ext cx="52578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464808" y="3172968"/>
            <a:ext cx="512064" cy="512064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36" name="Image 5" descr="/home/claude/icons/clo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6256" y="3234416"/>
            <a:ext cx="389169" cy="389169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7132320" y="3099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150" dirty="0"/>
          </a:p>
        </p:txBody>
      </p:sp>
      <p:sp>
        <p:nvSpPr>
          <p:cNvPr id="38" name="Text 30"/>
          <p:cNvSpPr txBox="1"/>
          <p:nvPr/>
        </p:nvSpPr>
        <p:spPr>
          <a:xfrm>
            <a:off x="7132320" y="328269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Temporal Robustness</a:t>
            </a:r>
            <a:endParaRPr lang="en-US" sz="1600" dirty="0"/>
          </a:p>
        </p:txBody>
      </p:sp>
      <p:sp>
        <p:nvSpPr>
          <p:cNvPr id="39" name="Text 31"/>
          <p:cNvSpPr txBox="1"/>
          <p:nvPr/>
        </p:nvSpPr>
        <p:spPr>
          <a:xfrm>
            <a:off x="7132320" y="35570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Rolling-origin backtesting &amp; antibiogram drift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6263640" y="4050792"/>
            <a:ext cx="52578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6464808" y="4215384"/>
            <a:ext cx="512064" cy="512064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42" name="Image 6" descr="/home/claude/icons/shield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6256" y="4276832"/>
            <a:ext cx="389169" cy="389169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7132320" y="41422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1150" dirty="0"/>
          </a:p>
        </p:txBody>
      </p:sp>
      <p:sp>
        <p:nvSpPr>
          <p:cNvPr id="44" name="Text 35"/>
          <p:cNvSpPr txBox="1"/>
          <p:nvPr/>
        </p:nvSpPr>
        <p:spPr>
          <a:xfrm>
            <a:off x="7132320" y="432511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Deployment &amp; Responsible Use</a:t>
            </a:r>
            <a:endParaRPr lang="en-US" sz="1600" dirty="0"/>
          </a:p>
        </p:txBody>
      </p:sp>
      <p:sp>
        <p:nvSpPr>
          <p:cNvPr id="45" name="Text 36"/>
          <p:cNvSpPr txBox="1"/>
          <p:nvPr/>
        </p:nvSpPr>
        <p:spPr>
          <a:xfrm>
            <a:off x="7132320" y="45994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Dashboard, model card, stewardship guardrails</a:t>
            </a:r>
            <a:endParaRPr lang="en-US" sz="1050" dirty="0"/>
          </a:p>
        </p:txBody>
      </p:sp>
      <p:sp>
        <p:nvSpPr>
          <p:cNvPr id="46" name="Text 37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AGENDA</a:t>
            </a:r>
            <a:endParaRPr lang="en-US" sz="850" dirty="0"/>
          </a:p>
        </p:txBody>
      </p:sp>
      <p:sp>
        <p:nvSpPr>
          <p:cNvPr id="47" name="Text 38"/>
          <p:cNvSpPr txBox="1"/>
          <p:nvPr/>
        </p:nvSpPr>
        <p:spPr>
          <a:xfrm>
            <a:off x="6245352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ANTHONY CHINEDU ECHEM  •  AMR RESISTANCE PREDICTOR</a:t>
            </a:r>
            <a:endParaRPr lang="en-US" sz="850" dirty="0"/>
          </a:p>
        </p:txBody>
      </p:sp>
      <p:sp>
        <p:nvSpPr>
          <p:cNvPr id="48" name="Text 39"/>
          <p:cNvSpPr txBox="1"/>
          <p:nvPr/>
        </p:nvSpPr>
        <p:spPr>
          <a:xfrm>
            <a:off x="117317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206240" cy="4206240"/>
          </a:xfrm>
          <a:prstGeom prst="ellipse">
            <a:avLst/>
          </a:prstGeom>
          <a:solidFill>
            <a:srgbClr val="1F3F60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0C1F3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3F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868680" y="2880360"/>
            <a:ext cx="822960" cy="822960"/>
          </a:xfrm>
          <a:prstGeom prst="ellipse">
            <a:avLst/>
          </a:prstGeom>
          <a:solidFill>
            <a:srgbClr val="D6A94A"/>
          </a:solidFill>
          <a:ln/>
        </p:spPr>
      </p:sp>
      <p:pic>
        <p:nvPicPr>
          <p:cNvPr id="6" name="Image 0" descr="/home/claude/icons/stethoscop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2979115"/>
            <a:ext cx="625450" cy="62545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2944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6A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ONE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33756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Clinical Problem</a:t>
            </a:r>
            <a:endParaRPr lang="en-US" sz="4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7091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DCEE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antibiotic selection needs to happen before the lab result exists — and what that costs when it goes wrong.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1 OF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CLINICAL CONTEXT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Antimicrobial resistance is a growing</a:t>
            </a:r>
            <a:endParaRPr lang="en-US" sz="28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and accelerating threat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20624" cy="420624"/>
          </a:xfrm>
          <a:prstGeom prst="ellipse">
            <a:avLst/>
          </a:prstGeom>
          <a:solidFill>
            <a:srgbClr val="B0403F"/>
          </a:solidFill>
          <a:ln/>
        </p:spPr>
      </p:sp>
      <p:pic>
        <p:nvPicPr>
          <p:cNvPr id="5" name="Image 0" descr="/home/claude/icons/ale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555" y="1833555"/>
            <a:ext cx="319674" cy="31967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7647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Global health priority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2039112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World Health Organization names antimicrobial resistance among the most serious threats to global health, tracked through its GLASS surveillance network across more than 100 countries.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953512"/>
            <a:ext cx="420624" cy="420624"/>
          </a:xfrm>
          <a:prstGeom prst="ellipse">
            <a:avLst/>
          </a:prstGeom>
          <a:solidFill>
            <a:srgbClr val="B0403F"/>
          </a:solidFill>
          <a:ln/>
        </p:spPr>
      </p:sp>
      <p:pic>
        <p:nvPicPr>
          <p:cNvPr id="9" name="Image 1" descr="/home/claude/icons/ale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55" y="3003987"/>
            <a:ext cx="319674" cy="31967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293522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Rising mortality burden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234440" y="3209544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Global Burden of Disease researchers project bacterial AMR could be linked to roughly 10 million deaths a year by 2050 if current resistance trends continue unchecked.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4123944"/>
            <a:ext cx="420624" cy="420624"/>
          </a:xfrm>
          <a:prstGeom prst="ellipse">
            <a:avLst/>
          </a:prstGeom>
          <a:solidFill>
            <a:srgbClr val="B0403F"/>
          </a:solidFill>
          <a:ln/>
        </p:spPr>
      </p:sp>
      <p:pic>
        <p:nvPicPr>
          <p:cNvPr id="13" name="Image 2" descr="/home/claude/icons/ale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55" y="4174419"/>
            <a:ext cx="319674" cy="31967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34440" y="410565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narrowing treatment window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234440" y="4379976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Priority pathogens — including carbapenem-resistant Gram-negatives — are outpacing the antibiotic development pipeline, making every prescribing decision higher-stakes.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452360" y="1783080"/>
            <a:ext cx="4069080" cy="411480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7726680" y="1965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this project sits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726680" y="2423160"/>
            <a:ext cx="3520440" cy="777240"/>
          </a:xfrm>
          <a:prstGeom prst="roundRect">
            <a:avLst>
              <a:gd name="adj" fmla="val 7059"/>
            </a:avLst>
          </a:prstGeom>
          <a:solidFill>
            <a:srgbClr val="FFFDF6"/>
          </a:solidFill>
          <a:ln w="12700">
            <a:solidFill>
              <a:srgbClr val="E7E1D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909560" y="249631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Global surveillance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(population-level trends)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281160" y="322783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/home/claude/icons/arrowrigh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8468" y="3265140"/>
            <a:ext cx="236281" cy="236281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7726680" y="3502152"/>
            <a:ext cx="3520440" cy="777240"/>
          </a:xfrm>
          <a:prstGeom prst="roundRect">
            <a:avLst>
              <a:gd name="adj" fmla="val 7059"/>
            </a:avLst>
          </a:prstGeom>
          <a:solidFill>
            <a:srgbClr val="FFFDF6"/>
          </a:solidFill>
          <a:ln w="12700">
            <a:solidFill>
              <a:srgbClr val="E7E1D2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7909560" y="357530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Hospital antibiogram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(facility-level, quarterly)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9281160" y="4306824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/home/claude/icons/arrowrigh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8468" y="4344132"/>
            <a:ext cx="236281" cy="236281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7726680" y="4581144"/>
            <a:ext cx="3520440" cy="777240"/>
          </a:xfrm>
          <a:prstGeom prst="roundRect">
            <a:avLst>
              <a:gd name="adj" fmla="val 7059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7909560" y="465429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AMR Predictor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(patient-level, real-time)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7726680" y="5394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layer resolves faster and more locally — patient-level prediction closes the gap population surveillance cannot.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 — CLINICAL PROBLEM</a:t>
            </a:r>
            <a:endParaRPr lang="en-US" sz="850" dirty="0"/>
          </a:p>
        </p:txBody>
      </p:sp>
      <p:sp>
        <p:nvSpPr>
          <p:cNvPr id="30" name="Text 23"/>
          <p:cNvSpPr txBox="1"/>
          <p:nvPr/>
        </p:nvSpPr>
        <p:spPr>
          <a:xfrm>
            <a:off x="6245352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ANTHONY CHINEDU ECHEM  •  AMR RESISTANCE PREDICTOR</a:t>
            </a:r>
            <a:endParaRPr lang="en-US" sz="850" dirty="0"/>
          </a:p>
        </p:txBody>
      </p:sp>
      <p:sp>
        <p:nvSpPr>
          <p:cNvPr id="31" name="Text 24"/>
          <p:cNvSpPr txBox="1"/>
          <p:nvPr/>
        </p:nvSpPr>
        <p:spPr>
          <a:xfrm>
            <a:off x="117317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EMPIRIC GAP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Clinicians must choose before they know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Culture and susceptibility results typically take 48–72 hours to return. In that window, a clinician must choose an antibiotic based on judgment, local antibiograms, and patient history alone — with no patient-specific resistance estimate.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2542032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898648"/>
            <a:ext cx="475488" cy="475488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7" name="Image 0" descr="/home/claude/icons/clipbo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019" y="2955707"/>
            <a:ext cx="361371" cy="36137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52044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Hour 0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794760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Patient presents with suspected infection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64992" y="2697480"/>
            <a:ext cx="2542032" cy="1737360"/>
          </a:xfrm>
          <a:prstGeom prst="roundRect">
            <a:avLst>
              <a:gd name="adj" fmla="val 3684"/>
            </a:avLst>
          </a:prstGeom>
          <a:solidFill>
            <a:srgbClr val="B0403F"/>
          </a:solidFill>
          <a:ln w="12700">
            <a:solidFill>
              <a:srgbClr val="B0403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47872" y="289864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icons/pill_cor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4931" y="2955707"/>
            <a:ext cx="361371" cy="36137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47872" y="352044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Hour 0–1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3547872" y="3794760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Empiric antibiotic chosen — no lab result yet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89904" y="2697480"/>
            <a:ext cx="2542032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72784" y="2898648"/>
            <a:ext cx="475488" cy="475488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7" name="Image 2" descr="/home/claude/icons/flas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843" y="2955707"/>
            <a:ext cx="361371" cy="36137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272784" y="352044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Hour 24–48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272784" y="3794760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Culture growth identified in the lab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814816" y="2697480"/>
            <a:ext cx="2542032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997696" y="2898648"/>
            <a:ext cx="475488" cy="475488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22" name="Image 3" descr="/home/claude/icons/microb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4755" y="2955707"/>
            <a:ext cx="361371" cy="36137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997696" y="352044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Hour 48–72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8997696" y="3794760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Susceptibility panel finalized; therapy adjusted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200400" y="3410712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/home/claude/icons/arrowrigh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3318" y="3443630"/>
            <a:ext cx="208483" cy="208483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5925312" y="3410712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5" descr="/home/claude/icons/arrowright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8230" y="3443630"/>
            <a:ext cx="208483" cy="208483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8650224" y="3410712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6" descr="/home/claude/icons/arrowright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3142" y="3443630"/>
            <a:ext cx="208483" cy="208483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640080" y="4709160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DCEEED"/>
          </a:solidFill>
          <a:ln/>
        </p:spPr>
      </p:sp>
      <p:sp>
        <p:nvSpPr>
          <p:cNvPr id="32" name="Text 23"/>
          <p:cNvSpPr txBox="1"/>
          <p:nvPr/>
        </p:nvSpPr>
        <p:spPr>
          <a:xfrm>
            <a:off x="914400" y="48920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“The AMR Predictor is built to sit exactly inside the Hour 0–1 gap — producing a per-class resistance probability alongside the antibiogram at the point an empiric choice is actually made.”</a:t>
            </a:r>
            <a:endParaRPr lang="en-US" sz="1450" dirty="0"/>
          </a:p>
        </p:txBody>
      </p:sp>
      <p:sp>
        <p:nvSpPr>
          <p:cNvPr id="33" name="Text 24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 — CLINICAL PROBLEM</a:t>
            </a:r>
            <a:endParaRPr lang="en-US" sz="850" dirty="0"/>
          </a:p>
        </p:txBody>
      </p:sp>
      <p:sp>
        <p:nvSpPr>
          <p:cNvPr id="34" name="Text 25"/>
          <p:cNvSpPr txBox="1"/>
          <p:nvPr/>
        </p:nvSpPr>
        <p:spPr>
          <a:xfrm>
            <a:off x="6245352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ANTHONY CHINEDU ECHEM  •  AMR RESISTANCE PREDICTOR</a:t>
            </a:r>
            <a:endParaRPr lang="en-US" sz="850" dirty="0"/>
          </a:p>
        </p:txBody>
      </p:sp>
      <p:sp>
        <p:nvSpPr>
          <p:cNvPr id="35" name="Text 26"/>
          <p:cNvSpPr txBox="1"/>
          <p:nvPr/>
        </p:nvSpPr>
        <p:spPr>
          <a:xfrm>
            <a:off x="117317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FRAMING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a blind coin-flip to a ranked risk estimate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Without a model, an antibiotic-class resistance call is effectively a coin flip — an AUC-ROC of 0.50. The task is framed as six parallel binary questions, one per antibiotic class, each answerable at triage time from data already in the chart.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521208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Discrimination vs. chance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463040" y="4263390"/>
            <a:ext cx="1554480" cy="1314450"/>
          </a:xfrm>
          <a:prstGeom prst="rect">
            <a:avLst/>
          </a:prstGeom>
          <a:solidFill>
            <a:srgbClr val="95A0A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63040" y="395249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0.500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56327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Antibiogram-only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0" y="3692919"/>
            <a:ext cx="1554480" cy="1884921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840480" y="3382023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0.717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56327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AMR Predictor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(mean AUC-ROC)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188720" y="5577840"/>
            <a:ext cx="4206240" cy="0"/>
          </a:xfrm>
          <a:prstGeom prst="line">
            <a:avLst/>
          </a:prstGeom>
          <a:noFill/>
          <a:ln w="19050">
            <a:solidFill>
              <a:srgbClr val="E7E1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2606040"/>
            <a:ext cx="5440680" cy="3520440"/>
          </a:xfrm>
          <a:prstGeom prst="roundRect">
            <a:avLst>
              <a:gd name="adj" fmla="val 1558"/>
            </a:avLst>
          </a:prstGeom>
          <a:solidFill>
            <a:srgbClr val="1632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55080" y="2788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6A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Task framing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55080" y="3200400"/>
            <a:ext cx="292608" cy="29260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7" name="Image 0" descr="/home/claude/icons/che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0193" y="3235513"/>
            <a:ext cx="222382" cy="222382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6766560" y="315468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Input: 11 structured features available at triage (risk factors + note-derived flags + calendar month)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355080" y="3931920"/>
            <a:ext cx="292608" cy="29260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0" name="Image 1" descr="/home/claude/icons/che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193" y="3967033"/>
            <a:ext cx="222382" cy="222382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766560" y="38862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Output: 6 independent probabilities — one per antibiotic class — not a single label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355080" y="4663440"/>
            <a:ext cx="292608" cy="29260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3" name="Image 2" descr="/home/claude/icons/che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193" y="4698553"/>
            <a:ext cx="222382" cy="22238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766560" y="46177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patient can be predicted resistant to more than one class simultaneously (true multi-label problem)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355080" y="5394960"/>
            <a:ext cx="292608" cy="29260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6" name="Image 3" descr="/home/claude/icons/che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0193" y="5430073"/>
            <a:ext cx="222382" cy="22238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766560" y="534924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Objective: rank-order patients by resistance risk, not just classify — hence AUC-ROC as the primary metric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 — CLINICAL PROBLEM</a:t>
            </a:r>
            <a:endParaRPr lang="en-US" sz="850" dirty="0"/>
          </a:p>
        </p:txBody>
      </p:sp>
      <p:sp>
        <p:nvSpPr>
          <p:cNvPr id="29" name="Text 23"/>
          <p:cNvSpPr txBox="1"/>
          <p:nvPr/>
        </p:nvSpPr>
        <p:spPr>
          <a:xfrm>
            <a:off x="6245352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ANTHONY CHINEDU ECHEM  •  AMR RESISTANCE PREDICTOR</a:t>
            </a:r>
            <a:endParaRPr lang="en-US" sz="850" dirty="0"/>
          </a:p>
        </p:txBody>
      </p:sp>
      <p:sp>
        <p:nvSpPr>
          <p:cNvPr id="30" name="Text 24"/>
          <p:cNvSpPr txBox="1"/>
          <p:nvPr/>
        </p:nvSpPr>
        <p:spPr>
          <a:xfrm>
            <a:off x="117317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OBJECTIVES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this project set out to prove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02152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84248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/home/claude/icons/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039112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41248" y="2569464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 resistance pre-culture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880360"/>
            <a:ext cx="30998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Estimate class-level resistance probability using only data available at the time of empiric prescribing.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25112" y="1783080"/>
            <a:ext cx="3502152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98424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1" name="Image 1" descr="/home/claude/icons/shiel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203911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26280" y="2569464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Support, not replace, judgment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880360"/>
            <a:ext cx="30998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Ship a reference decision-support tool explicitly gated on pharmacist review — never autonomous prescribing.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010144" y="1783080"/>
            <a:ext cx="3502152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11312" y="1984248"/>
            <a:ext cx="457200" cy="457200"/>
          </a:xfrm>
          <a:prstGeom prst="ellipse">
            <a:avLst/>
          </a:prstGeom>
          <a:solidFill>
            <a:srgbClr val="B0403F"/>
          </a:solidFill>
          <a:ln/>
        </p:spPr>
      </p:sp>
      <p:pic>
        <p:nvPicPr>
          <p:cNvPr id="16" name="Image 2" descr="/home/claude/icons/c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6" y="2039112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11312" y="2569464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Prove temporal robustness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211312" y="2880360"/>
            <a:ext cx="30998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Demonstrate the model tolerates realistic antibiogram drift over multiple simulated retrain cycles.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40080" y="3840480"/>
            <a:ext cx="3502152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1248" y="4041648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21" name="Image 3" descr="/home/claude/icons/trending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96512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41248" y="4626864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Beat the status quo, honestly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841248" y="4937760"/>
            <a:ext cx="30998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Benchmark against the true baseline — a blind 0.50 antibiogram-only guess — not an inflated straw man.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25112" y="3840480"/>
            <a:ext cx="3502152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404164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6" name="Image 4" descr="/home/claude/icons/ey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1144" y="4096512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26280" y="4626864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Keep the pipeline explainable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4526280" y="4937760"/>
            <a:ext cx="30998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Favor a feature set and model family a stewardship pharmacist can audit and trust.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010144" y="3840480"/>
            <a:ext cx="3502152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11312" y="4041648"/>
            <a:ext cx="457200" cy="457200"/>
          </a:xfrm>
          <a:prstGeom prst="ellipse">
            <a:avLst/>
          </a:prstGeom>
          <a:solidFill>
            <a:srgbClr val="B0403F"/>
          </a:solidFill>
          <a:ln/>
        </p:spPr>
      </p:sp>
      <p:pic>
        <p:nvPicPr>
          <p:cNvPr id="31" name="Image 5" descr="/home/claude/icons/clipboar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6176" y="4096512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11312" y="4626864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Package it for real review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211312" y="4937760"/>
            <a:ext cx="30998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 a model card, evaluation report, and dashboard — not just a notebook metric.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 — CLINICAL PROBLEM</a:t>
            </a:r>
            <a:endParaRPr lang="en-US" sz="850" dirty="0"/>
          </a:p>
        </p:txBody>
      </p:sp>
      <p:sp>
        <p:nvSpPr>
          <p:cNvPr id="35" name="Text 27"/>
          <p:cNvSpPr txBox="1"/>
          <p:nvPr/>
        </p:nvSpPr>
        <p:spPr>
          <a:xfrm>
            <a:off x="6245352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ANTHONY CHINEDU ECHEM  •  AMR RESISTANCE PREDICTOR</a:t>
            </a:r>
            <a:endParaRPr lang="en-US" sz="850" dirty="0"/>
          </a:p>
        </p:txBody>
      </p:sp>
      <p:sp>
        <p:nvSpPr>
          <p:cNvPr id="36" name="Text 28"/>
          <p:cNvSpPr txBox="1"/>
          <p:nvPr/>
        </p:nvSpPr>
        <p:spPr>
          <a:xfrm>
            <a:off x="117317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206240" cy="4206240"/>
          </a:xfrm>
          <a:prstGeom prst="ellipse">
            <a:avLst/>
          </a:prstGeom>
          <a:solidFill>
            <a:srgbClr val="1F3F60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0C1F3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3F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868680" y="2880360"/>
            <a:ext cx="822960" cy="822960"/>
          </a:xfrm>
          <a:prstGeom prst="ellipse">
            <a:avLst/>
          </a:prstGeom>
          <a:solidFill>
            <a:srgbClr val="D6A94A"/>
          </a:solidFill>
          <a:ln/>
        </p:spPr>
      </p:sp>
      <p:pic>
        <p:nvPicPr>
          <p:cNvPr id="6" name="Image 0" descr="/home/claude/icons/databas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2979115"/>
            <a:ext cx="625450" cy="62545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2944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6A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TWO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33756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&amp; Cohort</a:t>
            </a:r>
            <a:endParaRPr lang="en-US" sz="4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7091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DCEE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18,000 culture episodes across three simulated years — built to mirror real antibiogram drift without touching identifiable patient data.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2 OF 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structured, longitudinal culture-episode cohort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18,000 culture episodes were synthesized to reproduce the statistical structure of a hospital microbiology + EHR feed — monthly volume, drifting resistance prevalence, and realistic risk-factor co-occurrence — without any real patient data.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249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Schema (20 columns × 18,000 rows)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66751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30815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episode_id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308152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Unique identifier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30815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3465576"/>
            <a:ext cx="6675120" cy="402336"/>
          </a:xfrm>
          <a:prstGeom prst="rect">
            <a:avLst/>
          </a:prstGeom>
          <a:solidFill>
            <a:srgbClr val="FFFD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4838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348386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Simulated calendar month (0–35)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34838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Temporal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3867912"/>
            <a:ext cx="66751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pathogen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246120" y="38862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Identified organism (8 classes)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3886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 (post-hoc)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4270248"/>
            <a:ext cx="6675120" cy="402336"/>
          </a:xfrm>
          <a:prstGeom prst="rect">
            <a:avLst/>
          </a:prstGeom>
          <a:solidFill>
            <a:srgbClr val="FFFD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49808" y="42885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prior_abx_90d … icu_admission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246120" y="428853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 structured exposure / device risk factors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42885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" y="4672584"/>
            <a:ext cx="66751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9808" y="46908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note_flag_…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246120" y="469087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regex-derived clinical-note flags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172200" y="46908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" y="5074920"/>
            <a:ext cx="6675120" cy="402336"/>
          </a:xfrm>
          <a:prstGeom prst="rect">
            <a:avLst/>
          </a:prstGeom>
          <a:solidFill>
            <a:srgbClr val="FFFDF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9808" y="50932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resistant_…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246120" y="509320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 binary resistance-class labels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172200" y="50932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" y="5477256"/>
            <a:ext cx="66751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49808" y="54955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mdro_flag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3246120" y="549554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Composite multi-drug-resistant organism flag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172200" y="54955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 (aux)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589520" y="1783080"/>
            <a:ext cx="3931920" cy="434340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786384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Cohort at a glance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86384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18,000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7863840" y="27432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culture episodes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7863840" y="29992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36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7863840" y="33649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simulated calendar months (0–35)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7863840" y="362102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7863840" y="39867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distinct pathogen species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863840" y="424281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7863840" y="460857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antibiotic resistance classes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863840" y="48646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60.2%</a:t>
            </a: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7863840" y="52303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 episodes flagged MDRO-positive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7863840" y="5486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13,500 / 4,500</a:t>
            </a:r>
            <a:endParaRPr lang="en-US" sz="1800" dirty="0"/>
          </a:p>
        </p:txBody>
      </p:sp>
      <p:sp>
        <p:nvSpPr>
          <p:cNvPr id="47" name="Text 45"/>
          <p:cNvSpPr txBox="1"/>
          <p:nvPr/>
        </p:nvSpPr>
        <p:spPr>
          <a:xfrm>
            <a:off x="7863840" y="58521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 / held-out test split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 — DATA &amp; COHORT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6245352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ANTHONY CHINEDU ECHEM  •  AMR RESISTANCE PREDICTOR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117317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COHORT COMPOSITION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balanced spread of eight priority pathogens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single organism dominates the cohort — the eight species sit within a tight 2,190–2,325 episode band, so the model must learn resistance patterns that generalize across pathogens rather than memorizing one dominant class.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73152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868680" y="2606040"/>
          <a:ext cx="68580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0" y="2468880"/>
            <a:ext cx="3291840" cy="36576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503920" y="2651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30175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Pathogen identity is intentionally excluded from the model’s feature set (Slide 20) — this balance confirms the cohort is not implicitly encoding one organism’s resistance profile through class imbalance.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503920" y="4617720"/>
            <a:ext cx="2651760" cy="0"/>
          </a:xfrm>
          <a:prstGeom prst="line">
            <a:avLst/>
          </a:prstGeom>
          <a:noFill/>
          <a:ln w="12700">
            <a:solidFill>
              <a:srgbClr val="E7E1D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503920" y="4754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WHO Bacterial Priority Pathogens List overlap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503920" y="50292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 of 8 cohort organisms appear on the WHO 2024 priority pathogens list for antibiotic R&amp;D.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 — DATA &amp; COHORT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6245352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ANTHONY CHINEDU ECHEM  •  AMR RESISTANCE PREDICTOR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117317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STRUCTURED RISK FACTORS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Exposure and device history drive the signal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seven fields are the kind of data already sitting in a chart at triage — no wait for labs, no new instrumentation. Prior antibiotic exposure alone touches 60% of episodes, making it the single richest structured signal.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73152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868680" y="2606040"/>
          <a:ext cx="68580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0" y="2468880"/>
            <a:ext cx="3291840" cy="36576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503920" y="269748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9" name="Image 0" descr="/home/claude/icons/flas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8784" y="2752344"/>
            <a:ext cx="347472" cy="34747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503920" y="3246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Clinical read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8503920" y="356616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Prior antibiotic exposure, recent hospitalization, and device presence are established resistance risk correlates in the stewardship literature — the cohort was designed so the model has to earn its lift from realistic, not fabricated, associations.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 — DATA &amp; COHORT</a:t>
            </a:r>
            <a:endParaRPr lang="en-US" sz="850" dirty="0"/>
          </a:p>
        </p:txBody>
      </p:sp>
      <p:sp>
        <p:nvSpPr>
          <p:cNvPr id="13" name="Text 9"/>
          <p:cNvSpPr txBox="1"/>
          <p:nvPr/>
        </p:nvSpPr>
        <p:spPr>
          <a:xfrm>
            <a:off x="6245352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ANTHONY CHINEDU ECHEM  •  AMR RESISTANCE PREDICTOR</a:t>
            </a:r>
            <a:endParaRPr lang="en-US" sz="850" dirty="0"/>
          </a:p>
        </p:txBody>
      </p:sp>
      <p:sp>
        <p:nvSpPr>
          <p:cNvPr id="14" name="Text 10"/>
          <p:cNvSpPr txBox="1"/>
          <p:nvPr/>
        </p:nvSpPr>
        <p:spPr>
          <a:xfrm>
            <a:off x="117317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UNSTRUCTURED SIGNAL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flags extracted from free-text notes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Beyond structured fields, three binary flags are pulled from clinical note text via rule-based regex matching — a deliberately lightweight first pass, not a fine-tuned clinical language model (see Limitations, Slide 39).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502152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807208"/>
            <a:ext cx="457200" cy="457200"/>
          </a:xfrm>
          <a:prstGeom prst="ellipse">
            <a:avLst/>
          </a:prstGeom>
          <a:solidFill>
            <a:srgbClr val="B0403F"/>
          </a:solidFill>
          <a:ln/>
        </p:spPr>
      </p:sp>
      <p:pic>
        <p:nvPicPr>
          <p:cNvPr id="7" name="Image 0" descr="/home/claude/icons/ale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862072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2807208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10.9%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341071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note_flag_prior_mdro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3703320"/>
            <a:ext cx="3099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Mentions of a prior multi-drug-resistant organism finding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25112" y="2606040"/>
            <a:ext cx="3502152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26280" y="2807208"/>
            <a:ext cx="457200" cy="457200"/>
          </a:xfrm>
          <a:prstGeom prst="ellipse">
            <a:avLst/>
          </a:prstGeom>
          <a:solidFill>
            <a:srgbClr val="C9822B"/>
          </a:solidFill>
          <a:ln/>
        </p:spPr>
      </p:sp>
      <p:pic>
        <p:nvPicPr>
          <p:cNvPr id="13" name="Image 1" descr="/home/claude/icons/compas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286207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102352" y="2807208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6.0%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341071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note_flag_recent_travel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4526280" y="3703320"/>
            <a:ext cx="3099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Mentions of recent travel — a proxy for regional resistance exposure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010144" y="2606040"/>
            <a:ext cx="3502152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11312" y="280720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9" name="Image 2" descr="/home/claude/icons/hea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6" y="2862072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787384" y="2807208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9.9%</a:t>
            </a:r>
            <a:endParaRPr lang="en-US" sz="2400" dirty="0"/>
          </a:p>
        </p:txBody>
      </p:sp>
      <p:sp>
        <p:nvSpPr>
          <p:cNvPr id="21" name="Text 16"/>
          <p:cNvSpPr txBox="1"/>
          <p:nvPr/>
        </p:nvSpPr>
        <p:spPr>
          <a:xfrm>
            <a:off x="8211312" y="341071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note_flag_immunosuppressed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8211312" y="3703320"/>
            <a:ext cx="3099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Mentions of immunosuppressive therapy or condition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40080" y="4937760"/>
            <a:ext cx="10881360" cy="1143000"/>
          </a:xfrm>
          <a:prstGeom prst="roundRect">
            <a:avLst>
              <a:gd name="adj" fmla="val 4800"/>
            </a:avLst>
          </a:prstGeom>
          <a:solidFill>
            <a:srgbClr val="F5E6CE"/>
          </a:solidFill>
          <a:ln/>
        </p:spPr>
      </p:sp>
      <p:sp>
        <p:nvSpPr>
          <p:cNvPr id="24" name="Shape 19"/>
          <p:cNvSpPr/>
          <p:nvPr/>
        </p:nvSpPr>
        <p:spPr>
          <a:xfrm>
            <a:off x="868680" y="5148072"/>
            <a:ext cx="457200" cy="457200"/>
          </a:xfrm>
          <a:prstGeom prst="ellipse">
            <a:avLst/>
          </a:prstGeom>
          <a:solidFill>
            <a:srgbClr val="C9822B"/>
          </a:solidFill>
          <a:ln/>
        </p:spPr>
      </p:sp>
      <p:pic>
        <p:nvPicPr>
          <p:cNvPr id="25" name="Image 3" descr="/home/claude/icons/warning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5202936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46304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82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Engineering honesty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1463040" y="5330952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Regex extraction is fast and auditable but brittle to phrasing variance. The model card flags real ClinicalBERT-based note extraction as the top roadmap item (Slide 39).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 — DATA &amp; COHORT</a:t>
            </a:r>
            <a:endParaRPr lang="en-US" sz="850" dirty="0"/>
          </a:p>
        </p:txBody>
      </p:sp>
      <p:sp>
        <p:nvSpPr>
          <p:cNvPr id="29" name="Text 23"/>
          <p:cNvSpPr txBox="1"/>
          <p:nvPr/>
        </p:nvSpPr>
        <p:spPr>
          <a:xfrm>
            <a:off x="6245352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ANTHONY CHINEDU ECHEM  •  AMR RESISTANCE PREDICTOR</a:t>
            </a:r>
            <a:endParaRPr lang="en-US" sz="850" dirty="0"/>
          </a:p>
        </p:txBody>
      </p:sp>
      <p:sp>
        <p:nvSpPr>
          <p:cNvPr id="30" name="Text 24"/>
          <p:cNvSpPr txBox="1"/>
          <p:nvPr/>
        </p:nvSpPr>
        <p:spPr>
          <a:xfrm>
            <a:off x="117317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TARGETS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Six resistance labels, one composite flag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episode carries six independent binary resistance labels — an episode can be resistant to none, one, or several classes at once — plus a composite MDRO flag used only as a secondary stewardship-relevant metric, not a training target.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1737360" cy="1051560"/>
          </a:xfrm>
          <a:prstGeom prst="roundRect">
            <a:avLst>
              <a:gd name="adj" fmla="val 5217"/>
            </a:avLst>
          </a:prstGeom>
          <a:solidFill>
            <a:srgbClr val="16324F"/>
          </a:solidFill>
          <a:ln/>
        </p:spPr>
      </p:sp>
      <p:sp>
        <p:nvSpPr>
          <p:cNvPr id="6" name="Shape 4"/>
          <p:cNvSpPr/>
          <p:nvPr/>
        </p:nvSpPr>
        <p:spPr>
          <a:xfrm>
            <a:off x="1325880" y="2734056"/>
            <a:ext cx="365760" cy="365760"/>
          </a:xfrm>
          <a:prstGeom prst="ellipse">
            <a:avLst/>
          </a:prstGeom>
          <a:solidFill>
            <a:srgbClr val="D6A94A"/>
          </a:solidFill>
          <a:ln/>
        </p:spPr>
      </p:sp>
      <p:pic>
        <p:nvPicPr>
          <p:cNvPr id="7" name="Image 0" descr="/home/claude/icons/pill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9771" y="2777947"/>
            <a:ext cx="277978" cy="27797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94944" y="317296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Penicillins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487168" y="2606040"/>
            <a:ext cx="1737360" cy="1051560"/>
          </a:xfrm>
          <a:prstGeom prst="roundRect">
            <a:avLst>
              <a:gd name="adj" fmla="val 5217"/>
            </a:avLst>
          </a:prstGeom>
          <a:solidFill>
            <a:srgbClr val="16324F"/>
          </a:solidFill>
          <a:ln/>
        </p:spPr>
      </p:sp>
      <p:sp>
        <p:nvSpPr>
          <p:cNvPr id="10" name="Shape 7"/>
          <p:cNvSpPr/>
          <p:nvPr/>
        </p:nvSpPr>
        <p:spPr>
          <a:xfrm>
            <a:off x="3172968" y="2734056"/>
            <a:ext cx="365760" cy="365760"/>
          </a:xfrm>
          <a:prstGeom prst="ellipse">
            <a:avLst/>
          </a:prstGeom>
          <a:solidFill>
            <a:srgbClr val="D6A94A"/>
          </a:solidFill>
          <a:ln/>
        </p:spPr>
      </p:sp>
      <p:pic>
        <p:nvPicPr>
          <p:cNvPr id="11" name="Image 1" descr="/home/claude/icons/pill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859" y="2777947"/>
            <a:ext cx="277978" cy="27797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542032" y="317296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Cephalosporins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334256" y="2606040"/>
            <a:ext cx="1737360" cy="1051560"/>
          </a:xfrm>
          <a:prstGeom prst="roundRect">
            <a:avLst>
              <a:gd name="adj" fmla="val 5217"/>
            </a:avLst>
          </a:prstGeom>
          <a:solidFill>
            <a:srgbClr val="16324F"/>
          </a:solidFill>
          <a:ln/>
        </p:spPr>
      </p:sp>
      <p:sp>
        <p:nvSpPr>
          <p:cNvPr id="14" name="Shape 10"/>
          <p:cNvSpPr/>
          <p:nvPr/>
        </p:nvSpPr>
        <p:spPr>
          <a:xfrm>
            <a:off x="5020056" y="2734056"/>
            <a:ext cx="365760" cy="365760"/>
          </a:xfrm>
          <a:prstGeom prst="ellipse">
            <a:avLst/>
          </a:prstGeom>
          <a:solidFill>
            <a:srgbClr val="D6A94A"/>
          </a:solidFill>
          <a:ln/>
        </p:spPr>
      </p:sp>
      <p:pic>
        <p:nvPicPr>
          <p:cNvPr id="15" name="Image 2" descr="/home/claude/icons/pill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947" y="2777947"/>
            <a:ext cx="277978" cy="27797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389120" y="317296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Fluoroquinolones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181344" y="2606040"/>
            <a:ext cx="1737360" cy="1051560"/>
          </a:xfrm>
          <a:prstGeom prst="roundRect">
            <a:avLst>
              <a:gd name="adj" fmla="val 5217"/>
            </a:avLst>
          </a:prstGeom>
          <a:solidFill>
            <a:srgbClr val="16324F"/>
          </a:solidFill>
          <a:ln/>
        </p:spPr>
      </p:sp>
      <p:sp>
        <p:nvSpPr>
          <p:cNvPr id="18" name="Shape 13"/>
          <p:cNvSpPr/>
          <p:nvPr/>
        </p:nvSpPr>
        <p:spPr>
          <a:xfrm>
            <a:off x="6867144" y="2734056"/>
            <a:ext cx="365760" cy="365760"/>
          </a:xfrm>
          <a:prstGeom prst="ellipse">
            <a:avLst/>
          </a:prstGeom>
          <a:solidFill>
            <a:srgbClr val="D6A94A"/>
          </a:solidFill>
          <a:ln/>
        </p:spPr>
      </p:sp>
      <p:pic>
        <p:nvPicPr>
          <p:cNvPr id="19" name="Image 3" descr="/home/claude/icons/pill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1035" y="2777947"/>
            <a:ext cx="277978" cy="27797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236208" y="317296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Carbapenems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8028432" y="2606040"/>
            <a:ext cx="1737360" cy="1051560"/>
          </a:xfrm>
          <a:prstGeom prst="roundRect">
            <a:avLst>
              <a:gd name="adj" fmla="val 5217"/>
            </a:avLst>
          </a:prstGeom>
          <a:solidFill>
            <a:srgbClr val="16324F"/>
          </a:solidFill>
          <a:ln/>
        </p:spPr>
      </p:sp>
      <p:sp>
        <p:nvSpPr>
          <p:cNvPr id="22" name="Shape 16"/>
          <p:cNvSpPr/>
          <p:nvPr/>
        </p:nvSpPr>
        <p:spPr>
          <a:xfrm>
            <a:off x="8714232" y="2734056"/>
            <a:ext cx="365760" cy="365760"/>
          </a:xfrm>
          <a:prstGeom prst="ellipse">
            <a:avLst/>
          </a:prstGeom>
          <a:solidFill>
            <a:srgbClr val="D6A94A"/>
          </a:solidFill>
          <a:ln/>
        </p:spPr>
      </p:sp>
      <p:pic>
        <p:nvPicPr>
          <p:cNvPr id="23" name="Image 4" descr="/home/claude/icons/pill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8123" y="2777947"/>
            <a:ext cx="277978" cy="27797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083296" y="317296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Aminoglycosides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9875520" y="2606040"/>
            <a:ext cx="1737360" cy="1051560"/>
          </a:xfrm>
          <a:prstGeom prst="roundRect">
            <a:avLst>
              <a:gd name="adj" fmla="val 5217"/>
            </a:avLst>
          </a:prstGeom>
          <a:solidFill>
            <a:srgbClr val="16324F"/>
          </a:solidFill>
          <a:ln/>
        </p:spPr>
      </p:sp>
      <p:sp>
        <p:nvSpPr>
          <p:cNvPr id="26" name="Shape 19"/>
          <p:cNvSpPr/>
          <p:nvPr/>
        </p:nvSpPr>
        <p:spPr>
          <a:xfrm>
            <a:off x="10561320" y="2734056"/>
            <a:ext cx="365760" cy="365760"/>
          </a:xfrm>
          <a:prstGeom prst="ellipse">
            <a:avLst/>
          </a:prstGeom>
          <a:solidFill>
            <a:srgbClr val="D6A94A"/>
          </a:solidFill>
          <a:ln/>
        </p:spPr>
      </p:sp>
      <p:pic>
        <p:nvPicPr>
          <p:cNvPr id="27" name="Image 5" descr="/home/claude/icons/pill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5211" y="2777947"/>
            <a:ext cx="277978" cy="277978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9930384" y="317296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Glycopeptides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640080" y="3931920"/>
            <a:ext cx="64922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30" name="Text 22"/>
          <p:cNvSpPr txBox="1"/>
          <p:nvPr/>
        </p:nvSpPr>
        <p:spPr>
          <a:xfrm>
            <a:off x="914400" y="4114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Multi-label, not multi-class</a:t>
            </a:r>
            <a:endParaRPr lang="en-US" sz="1250" dirty="0"/>
          </a:p>
        </p:txBody>
      </p:sp>
      <p:sp>
        <p:nvSpPr>
          <p:cNvPr id="31" name="Text 23"/>
          <p:cNvSpPr txBox="1"/>
          <p:nvPr/>
        </p:nvSpPr>
        <p:spPr>
          <a:xfrm>
            <a:off x="914400" y="4434840"/>
            <a:ext cx="5943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single Klebsiella pneumoniae episode, for example, may be simultaneously resistant to penicillins, cephalosporins, and fluoroquinolones while remaining susceptible to carbapenems — the label space is a 6-bit vector, not a single class pick, which is why the model is a bank of six independent binary classifiers (Slide 22).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7315200" y="3931920"/>
            <a:ext cx="42062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33" name="Text 25"/>
          <p:cNvSpPr txBox="1"/>
          <p:nvPr/>
        </p:nvSpPr>
        <p:spPr>
          <a:xfrm>
            <a:off x="7589520" y="41148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04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60.2%</a:t>
            </a:r>
            <a:endParaRPr lang="en-US" sz="3400" dirty="0"/>
          </a:p>
        </p:txBody>
      </p:sp>
      <p:sp>
        <p:nvSpPr>
          <p:cNvPr id="34" name="Text 26"/>
          <p:cNvSpPr txBox="1"/>
          <p:nvPr/>
        </p:nvSpPr>
        <p:spPr>
          <a:xfrm>
            <a:off x="7589520" y="47548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 episodes carry the composite MDRO flag — resistant to ≥ 3 antibiotic classes — the population where a false-negative miss carries the highest clinical cost.</a:t>
            </a:r>
            <a:endParaRPr lang="en-US" sz="1050" dirty="0"/>
          </a:p>
        </p:txBody>
      </p:sp>
      <p:sp>
        <p:nvSpPr>
          <p:cNvPr id="35" name="Text 27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 — DATA &amp; COHORT</a:t>
            </a:r>
            <a:endParaRPr lang="en-US" sz="850" dirty="0"/>
          </a:p>
        </p:txBody>
      </p:sp>
      <p:sp>
        <p:nvSpPr>
          <p:cNvPr id="36" name="Text 28"/>
          <p:cNvSpPr txBox="1"/>
          <p:nvPr/>
        </p:nvSpPr>
        <p:spPr>
          <a:xfrm>
            <a:off x="6245352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ANTHONY CHINEDU ECHEM  •  AMR RESISTANCE PREDICTOR</a:t>
            </a:r>
            <a:endParaRPr lang="en-US" sz="850" dirty="0"/>
          </a:p>
        </p:txBody>
      </p:sp>
      <p:sp>
        <p:nvSpPr>
          <p:cNvPr id="37" name="Text 29"/>
          <p:cNvSpPr txBox="1"/>
          <p:nvPr/>
        </p:nvSpPr>
        <p:spPr>
          <a:xfrm>
            <a:off x="117317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 PREVALENCE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Resistance is common — and unevenly distributed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Full-cohort prevalence ranges from 31.9% (carbapenems) to 70.4% (penicillins). This spread matters: rarer-positive classes are harder to rank well, which shows up directly in per-class AUC-ROC later (Slide 29).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088136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914400" y="2697480"/>
          <a:ext cx="103327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 — DATA &amp; COHORT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6245352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ANTHONY CHINEDU ECHEM  •  AMR RESISTANCE PREDICTOR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117317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TRANSPARENCY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Synthetic by design — and disclosed as such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02152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84248"/>
            <a:ext cx="475488" cy="475488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/home/claude/icons/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307" y="2041307"/>
            <a:ext cx="361371" cy="36137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41248" y="260604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synthetic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953512"/>
            <a:ext cx="30998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generated cohort removes patient-privacy and IRB constraints entirely while preserving the statistical shape — prevalence, co-occurrence, and drift — that a real stewardship dataset would show.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5112" y="1783080"/>
            <a:ext cx="3502152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984248"/>
            <a:ext cx="475488" cy="475488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/home/claude/icons/lay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3339" y="2041307"/>
            <a:ext cx="361371" cy="36137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26280" y="260604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was preserved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953512"/>
            <a:ext cx="30998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Monthly volume, class-conditional risk-factor correlation, and a deliberate antibiogram drift trend across 36 months so temporal validation (Section 06) is meaningful rather than trivial.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10144" y="1783080"/>
            <a:ext cx="3502152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11312" y="1984248"/>
            <a:ext cx="475488" cy="475488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/home/claude/icons/clipboar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371" y="2041307"/>
            <a:ext cx="361371" cy="36137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11312" y="260604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was disclosed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211312" y="2953512"/>
            <a:ext cx="30998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model card explicitly states "synthetic cohort" as the first limitation — every downstream number in this deck is scoped to that cohort, not claimed as real-world clinical performance.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480060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16324F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5029200"/>
            <a:ext cx="548640" cy="548640"/>
          </a:xfrm>
          <a:prstGeom prst="ellipse">
            <a:avLst/>
          </a:prstGeom>
          <a:solidFill>
            <a:srgbClr val="D6A94A"/>
          </a:solidFill>
          <a:ln/>
        </p:spPr>
      </p:sp>
      <p:pic>
        <p:nvPicPr>
          <p:cNvPr id="21" name="Image 3" descr="/home/claude/icons/ey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517" y="5095037"/>
            <a:ext cx="416966" cy="41696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00200" y="4956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A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methodological choice, stated up front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1600200" y="5266944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Treating "synthetic cohort" as a headline limitation — not a footnote — is itself part of demonstrating responsible ML practice for a clinical-adjacent tool.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 — DATA &amp; COHORT</a:t>
            </a:r>
            <a:endParaRPr lang="en-US" sz="850" dirty="0"/>
          </a:p>
        </p:txBody>
      </p:sp>
      <p:sp>
        <p:nvSpPr>
          <p:cNvPr id="25" name="Text 19"/>
          <p:cNvSpPr txBox="1"/>
          <p:nvPr/>
        </p:nvSpPr>
        <p:spPr>
          <a:xfrm>
            <a:off x="6245352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ANTHONY CHINEDU ECHEM  •  AMR RESISTANCE PREDICTOR</a:t>
            </a:r>
            <a:endParaRPr lang="en-US" sz="850" dirty="0"/>
          </a:p>
        </p:txBody>
      </p:sp>
      <p:sp>
        <p:nvSpPr>
          <p:cNvPr id="26" name="Text 20"/>
          <p:cNvSpPr txBox="1"/>
          <p:nvPr/>
        </p:nvSpPr>
        <p:spPr>
          <a:xfrm>
            <a:off x="117317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206240" cy="4206240"/>
          </a:xfrm>
          <a:prstGeom prst="ellipse">
            <a:avLst/>
          </a:prstGeom>
          <a:solidFill>
            <a:srgbClr val="1F3F60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0C1F3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3F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868680" y="2880360"/>
            <a:ext cx="822960" cy="822960"/>
          </a:xfrm>
          <a:prstGeom prst="ellipse">
            <a:avLst/>
          </a:prstGeom>
          <a:solidFill>
            <a:srgbClr val="D6A94A"/>
          </a:solidFill>
          <a:ln/>
        </p:spPr>
      </p:sp>
      <p:pic>
        <p:nvPicPr>
          <p:cNvPr id="6" name="Image 0" descr="/home/claude/icons/filte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2979115"/>
            <a:ext cx="625450" cy="62545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2944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6A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THREE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33756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Engineering</a:t>
            </a:r>
            <a:endParaRPr lang="en-US" sz="4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7091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DCEE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Turning 11 raw chart fields into a feature vector the model can rank patients on.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3 OF 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FEATURE VECTOR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Eleven features, four categories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one of the 11 model inputs is either already in the chart at triage or derivable from note text in seconds — nothing here waits on a lab.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2615184" cy="379476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423160"/>
            <a:ext cx="2615184" cy="73152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642616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8" name="Image 0" descr="/home/claude/icons/c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697480"/>
            <a:ext cx="347472" cy="34747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3209544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Exposure history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502152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features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22960" y="3840480"/>
            <a:ext cx="2249424" cy="365760"/>
          </a:xfrm>
          <a:prstGeom prst="roundRect">
            <a:avLst>
              <a:gd name="adj" fmla="val 12500"/>
            </a:avLst>
          </a:prstGeom>
          <a:solidFill>
            <a:srgbClr val="FFFDF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384048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4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prior_abx_90d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22960" y="4279392"/>
            <a:ext cx="2249424" cy="365760"/>
          </a:xfrm>
          <a:prstGeom prst="roundRect">
            <a:avLst>
              <a:gd name="adj" fmla="val 12500"/>
            </a:avLst>
          </a:prstGeom>
          <a:solidFill>
            <a:srgbClr val="FFFDF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4400" y="427939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4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recent_hosp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22960" y="4718304"/>
            <a:ext cx="2249424" cy="365760"/>
          </a:xfrm>
          <a:prstGeom prst="roundRect">
            <a:avLst>
              <a:gd name="adj" fmla="val 12500"/>
            </a:avLst>
          </a:prstGeom>
          <a:solidFill>
            <a:srgbClr val="FFFDF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14400" y="4718304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4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nursing_home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438144" y="2423160"/>
            <a:ext cx="2615184" cy="379476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438144" y="2423160"/>
            <a:ext cx="2615184" cy="731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9" name="Shape 16"/>
          <p:cNvSpPr/>
          <p:nvPr/>
        </p:nvSpPr>
        <p:spPr>
          <a:xfrm>
            <a:off x="3621024" y="2642616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0" name="Image 1" descr="/home/claude/icons/thermomet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2697480"/>
            <a:ext cx="347472" cy="347472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3621024" y="3209544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Device presence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3621024" y="3502152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features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621024" y="3840480"/>
            <a:ext cx="2249424" cy="365760"/>
          </a:xfrm>
          <a:prstGeom prst="roundRect">
            <a:avLst>
              <a:gd name="adj" fmla="val 12500"/>
            </a:avLst>
          </a:prstGeom>
          <a:solidFill>
            <a:srgbClr val="FFFDF6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3712464" y="384048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4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device_catheter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3621024" y="4279392"/>
            <a:ext cx="2249424" cy="365760"/>
          </a:xfrm>
          <a:prstGeom prst="roundRect">
            <a:avLst>
              <a:gd name="adj" fmla="val 12500"/>
            </a:avLst>
          </a:prstGeom>
          <a:solidFill>
            <a:srgbClr val="FFFDF6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3712464" y="427939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4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device_central_line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3621024" y="4718304"/>
            <a:ext cx="2249424" cy="365760"/>
          </a:xfrm>
          <a:prstGeom prst="roundRect">
            <a:avLst>
              <a:gd name="adj" fmla="val 12500"/>
            </a:avLst>
          </a:prstGeom>
          <a:solidFill>
            <a:srgbClr val="FFFDF6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3712464" y="4718304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4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device_ventilator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3621024" y="5157216"/>
            <a:ext cx="2249424" cy="365760"/>
          </a:xfrm>
          <a:prstGeom prst="roundRect">
            <a:avLst>
              <a:gd name="adj" fmla="val 12500"/>
            </a:avLst>
          </a:prstGeom>
          <a:solidFill>
            <a:srgbClr val="FFFDF6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3712464" y="5157216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4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icu_admission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6236208" y="2423160"/>
            <a:ext cx="2615184" cy="379476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236208" y="2423160"/>
            <a:ext cx="2615184" cy="73152"/>
          </a:xfrm>
          <a:prstGeom prst="rect">
            <a:avLst/>
          </a:prstGeom>
          <a:solidFill>
            <a:srgbClr val="B0403F"/>
          </a:solidFill>
          <a:ln/>
        </p:spPr>
      </p:sp>
      <p:sp>
        <p:nvSpPr>
          <p:cNvPr id="33" name="Shape 29"/>
          <p:cNvSpPr/>
          <p:nvPr/>
        </p:nvSpPr>
        <p:spPr>
          <a:xfrm>
            <a:off x="6419088" y="2642616"/>
            <a:ext cx="457200" cy="457200"/>
          </a:xfrm>
          <a:prstGeom prst="ellipse">
            <a:avLst/>
          </a:prstGeom>
          <a:solidFill>
            <a:srgbClr val="B0403F"/>
          </a:solidFill>
          <a:ln/>
        </p:spPr>
      </p:sp>
      <p:pic>
        <p:nvPicPr>
          <p:cNvPr id="34" name="Image 2" descr="/home/claude/icons/fileplu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697480"/>
            <a:ext cx="347472" cy="347472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6419088" y="3209544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Note-derived flags</a:t>
            </a:r>
            <a:endParaRPr lang="en-US" sz="1300" dirty="0"/>
          </a:p>
        </p:txBody>
      </p:sp>
      <p:sp>
        <p:nvSpPr>
          <p:cNvPr id="36" name="Text 31"/>
          <p:cNvSpPr txBox="1"/>
          <p:nvPr/>
        </p:nvSpPr>
        <p:spPr>
          <a:xfrm>
            <a:off x="6419088" y="3502152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features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6419088" y="3840480"/>
            <a:ext cx="2249424" cy="365760"/>
          </a:xfrm>
          <a:prstGeom prst="roundRect">
            <a:avLst>
              <a:gd name="adj" fmla="val 12500"/>
            </a:avLst>
          </a:prstGeom>
          <a:solidFill>
            <a:srgbClr val="FFFDF6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6510528" y="384048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4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note_flag_prior_mdro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6419088" y="4279392"/>
            <a:ext cx="2249424" cy="365760"/>
          </a:xfrm>
          <a:prstGeom prst="roundRect">
            <a:avLst>
              <a:gd name="adj" fmla="val 12500"/>
            </a:avLst>
          </a:prstGeom>
          <a:solidFill>
            <a:srgbClr val="FFFDF6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6510528" y="427939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4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note_flag_recent_travel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6419088" y="4718304"/>
            <a:ext cx="2249424" cy="365760"/>
          </a:xfrm>
          <a:prstGeom prst="roundRect">
            <a:avLst>
              <a:gd name="adj" fmla="val 12500"/>
            </a:avLst>
          </a:prstGeom>
          <a:solidFill>
            <a:srgbClr val="FFFDF6"/>
          </a:solidFill>
          <a:ln/>
        </p:spPr>
      </p:sp>
      <p:sp>
        <p:nvSpPr>
          <p:cNvPr id="42" name="Text 37"/>
          <p:cNvSpPr txBox="1"/>
          <p:nvPr/>
        </p:nvSpPr>
        <p:spPr>
          <a:xfrm>
            <a:off x="6510528" y="4718304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4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note_flag_immunosuppressed</a:t>
            </a:r>
            <a:endParaRPr lang="en-US" sz="900" dirty="0"/>
          </a:p>
        </p:txBody>
      </p:sp>
      <p:sp>
        <p:nvSpPr>
          <p:cNvPr id="43" name="Shape 38"/>
          <p:cNvSpPr/>
          <p:nvPr/>
        </p:nvSpPr>
        <p:spPr>
          <a:xfrm>
            <a:off x="9034272" y="2423160"/>
            <a:ext cx="2615184" cy="379476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44" name="Shape 39"/>
          <p:cNvSpPr/>
          <p:nvPr/>
        </p:nvSpPr>
        <p:spPr>
          <a:xfrm>
            <a:off x="9034272" y="2423160"/>
            <a:ext cx="2615184" cy="73152"/>
          </a:xfrm>
          <a:prstGeom prst="rect">
            <a:avLst/>
          </a:prstGeom>
          <a:solidFill>
            <a:srgbClr val="C9822B"/>
          </a:solidFill>
          <a:ln/>
        </p:spPr>
      </p:sp>
      <p:sp>
        <p:nvSpPr>
          <p:cNvPr id="45" name="Shape 40"/>
          <p:cNvSpPr/>
          <p:nvPr/>
        </p:nvSpPr>
        <p:spPr>
          <a:xfrm>
            <a:off x="9217152" y="2642616"/>
            <a:ext cx="457200" cy="457200"/>
          </a:xfrm>
          <a:prstGeom prst="ellipse">
            <a:avLst/>
          </a:prstGeom>
          <a:solidFill>
            <a:srgbClr val="C9822B"/>
          </a:solidFill>
          <a:ln/>
        </p:spPr>
      </p:sp>
      <p:pic>
        <p:nvPicPr>
          <p:cNvPr id="46" name="Image 3" descr="/home/claude/icons/calenda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2016" y="2697480"/>
            <a:ext cx="347472" cy="347472"/>
          </a:xfrm>
          <a:prstGeom prst="rect">
            <a:avLst/>
          </a:prstGeom>
        </p:spPr>
      </p:pic>
      <p:sp>
        <p:nvSpPr>
          <p:cNvPr id="47" name="Text 41"/>
          <p:cNvSpPr txBox="1"/>
          <p:nvPr/>
        </p:nvSpPr>
        <p:spPr>
          <a:xfrm>
            <a:off x="9217152" y="3209544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Temporal</a:t>
            </a:r>
            <a:endParaRPr lang="en-US" sz="1300" dirty="0"/>
          </a:p>
        </p:txBody>
      </p:sp>
      <p:sp>
        <p:nvSpPr>
          <p:cNvPr id="48" name="Text 42"/>
          <p:cNvSpPr txBox="1"/>
          <p:nvPr/>
        </p:nvSpPr>
        <p:spPr>
          <a:xfrm>
            <a:off x="9217152" y="3502152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feature</a:t>
            </a:r>
            <a:endParaRPr lang="en-US" sz="950" dirty="0"/>
          </a:p>
        </p:txBody>
      </p:sp>
      <p:sp>
        <p:nvSpPr>
          <p:cNvPr id="49" name="Shape 43"/>
          <p:cNvSpPr/>
          <p:nvPr/>
        </p:nvSpPr>
        <p:spPr>
          <a:xfrm>
            <a:off x="9217152" y="3840480"/>
            <a:ext cx="2249424" cy="365760"/>
          </a:xfrm>
          <a:prstGeom prst="roundRect">
            <a:avLst>
              <a:gd name="adj" fmla="val 12500"/>
            </a:avLst>
          </a:prstGeom>
          <a:solidFill>
            <a:srgbClr val="FFFDF6"/>
          </a:solidFill>
          <a:ln/>
        </p:spPr>
      </p:sp>
      <p:sp>
        <p:nvSpPr>
          <p:cNvPr id="50" name="Text 44"/>
          <p:cNvSpPr txBox="1"/>
          <p:nvPr/>
        </p:nvSpPr>
        <p:spPr>
          <a:xfrm>
            <a:off x="9308592" y="384048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4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</a:t>
            </a:r>
            <a:endParaRPr lang="en-US" sz="900" dirty="0"/>
          </a:p>
        </p:txBody>
      </p:sp>
      <p:sp>
        <p:nvSpPr>
          <p:cNvPr id="51" name="Text 45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 — FEATURE ENGINEERING</a:t>
            </a:r>
            <a:endParaRPr lang="en-US" sz="850" dirty="0"/>
          </a:p>
        </p:txBody>
      </p:sp>
      <p:sp>
        <p:nvSpPr>
          <p:cNvPr id="52" name="Text 46"/>
          <p:cNvSpPr txBox="1"/>
          <p:nvPr/>
        </p:nvSpPr>
        <p:spPr>
          <a:xfrm>
            <a:off x="6245352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ANTHONY CHINEDU ECHEM  •  AMR RESISTANCE PREDICTOR</a:t>
            </a:r>
            <a:endParaRPr lang="en-US" sz="850" dirty="0"/>
          </a:p>
        </p:txBody>
      </p:sp>
      <p:sp>
        <p:nvSpPr>
          <p:cNvPr id="53" name="Text 47"/>
          <p:cNvSpPr txBox="1"/>
          <p:nvPr/>
        </p:nvSpPr>
        <p:spPr>
          <a:xfrm>
            <a:off x="117317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PIPELINE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encounter to feature vector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377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45336" y="2633472"/>
            <a:ext cx="566928" cy="566928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/home/claude/icons/clipbo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3367" y="2701503"/>
            <a:ext cx="430865" cy="4308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383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Culture episode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opened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91363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Patient presents; a culture is ordered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0848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035808" y="3387852"/>
            <a:ext cx="310896" cy="310896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/home/claude/icons/arrowrigh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116" y="3425160"/>
            <a:ext cx="236281" cy="23628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337560" y="2377440"/>
            <a:ext cx="2377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9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242816" y="2633472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4" name="Image 2" descr="/home/claude/icon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847" y="2701503"/>
            <a:ext cx="430865" cy="43086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474720" y="3383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Structured EHR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pull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3502152" y="391363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 exposure &amp; device fields read directly from the chart</a:t>
            </a:r>
            <a:endParaRPr lang="en-US" sz="950" dirty="0"/>
          </a:p>
        </p:txBody>
      </p:sp>
      <p:sp>
        <p:nvSpPr>
          <p:cNvPr id="17" name="Text 12"/>
          <p:cNvSpPr txBox="1"/>
          <p:nvPr/>
        </p:nvSpPr>
        <p:spPr>
          <a:xfrm>
            <a:off x="3429000" y="20848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733288" y="3387852"/>
            <a:ext cx="310896" cy="310896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9" name="Image 3" descr="/home/claude/icons/arrowrigh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0596" y="3425160"/>
            <a:ext cx="236281" cy="236281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035040" y="2377440"/>
            <a:ext cx="2377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9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940296" y="2633472"/>
            <a:ext cx="566928" cy="566928"/>
          </a:xfrm>
          <a:prstGeom prst="ellipse">
            <a:avLst/>
          </a:prstGeom>
          <a:solidFill>
            <a:srgbClr val="B0403F"/>
          </a:solidFill>
          <a:ln/>
        </p:spPr>
      </p:sp>
      <p:pic>
        <p:nvPicPr>
          <p:cNvPr id="22" name="Image 4" descr="/home/claude/icons/fileplu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8327" y="2701503"/>
            <a:ext cx="430865" cy="43086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172200" y="3383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Note text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regex scan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6199632" y="391363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flags extracted from free-text clinical notes</a:t>
            </a:r>
            <a:endParaRPr lang="en-US" sz="950" dirty="0"/>
          </a:p>
        </p:txBody>
      </p:sp>
      <p:sp>
        <p:nvSpPr>
          <p:cNvPr id="25" name="Text 18"/>
          <p:cNvSpPr txBox="1"/>
          <p:nvPr/>
        </p:nvSpPr>
        <p:spPr>
          <a:xfrm>
            <a:off x="6126480" y="20848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8430768" y="3387852"/>
            <a:ext cx="310896" cy="310896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27" name="Image 5" descr="/home/claude/icons/arrowrigh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8076" y="3425160"/>
            <a:ext cx="236281" cy="236281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8732520" y="2377440"/>
            <a:ext cx="2377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9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9637776" y="2633472"/>
            <a:ext cx="566928" cy="566928"/>
          </a:xfrm>
          <a:prstGeom prst="ellipse">
            <a:avLst/>
          </a:prstGeom>
          <a:solidFill>
            <a:srgbClr val="C9822B"/>
          </a:solidFill>
          <a:ln/>
        </p:spPr>
      </p:sp>
      <p:pic>
        <p:nvPicPr>
          <p:cNvPr id="30" name="Image 6" descr="/home/claude/icons/cpu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5807" y="2701503"/>
            <a:ext cx="430865" cy="43086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8869680" y="3383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vector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assembled</a:t>
            </a:r>
            <a:endParaRPr lang="en-US" sz="1300" dirty="0"/>
          </a:p>
        </p:txBody>
      </p:sp>
      <p:sp>
        <p:nvSpPr>
          <p:cNvPr id="32" name="Text 23"/>
          <p:cNvSpPr txBox="1"/>
          <p:nvPr/>
        </p:nvSpPr>
        <p:spPr>
          <a:xfrm>
            <a:off x="8897112" y="391363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11-value vector + calendar month passed to 6 classifiers</a:t>
            </a:r>
            <a:endParaRPr lang="en-US" sz="950" dirty="0"/>
          </a:p>
        </p:txBody>
      </p:sp>
      <p:sp>
        <p:nvSpPr>
          <p:cNvPr id="33" name="Text 24"/>
          <p:cNvSpPr txBox="1"/>
          <p:nvPr/>
        </p:nvSpPr>
        <p:spPr>
          <a:xfrm>
            <a:off x="8823960" y="20848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Shape 25"/>
          <p:cNvSpPr/>
          <p:nvPr/>
        </p:nvSpPr>
        <p:spPr>
          <a:xfrm>
            <a:off x="640080" y="502920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DCEEED"/>
          </a:solidFill>
          <a:ln/>
        </p:spPr>
      </p:sp>
      <p:sp>
        <p:nvSpPr>
          <p:cNvPr id="35" name="Text 26"/>
          <p:cNvSpPr txBox="1"/>
          <p:nvPr/>
        </p:nvSpPr>
        <p:spPr>
          <a:xfrm>
            <a:off x="914400" y="521208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four stages complete in well under a minute of wall-clock time — the pipeline is designed to run inline with order entry, not as an overnight batch job.</a:t>
            </a:r>
            <a:endParaRPr lang="en-US" sz="1250" dirty="0"/>
          </a:p>
        </p:txBody>
      </p:sp>
      <p:sp>
        <p:nvSpPr>
          <p:cNvPr id="36" name="Text 27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 — FEATURE ENGINEERING</a:t>
            </a:r>
            <a:endParaRPr lang="en-US" sz="850" dirty="0"/>
          </a:p>
        </p:txBody>
      </p:sp>
      <p:sp>
        <p:nvSpPr>
          <p:cNvPr id="37" name="Text 28"/>
          <p:cNvSpPr txBox="1"/>
          <p:nvPr/>
        </p:nvSpPr>
        <p:spPr>
          <a:xfrm>
            <a:off x="6245352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ANTHONY CHINEDU ECHEM  •  AMR RESISTANCE PREDICTOR</a:t>
            </a:r>
            <a:endParaRPr lang="en-US" sz="850" dirty="0"/>
          </a:p>
        </p:txBody>
      </p:sp>
      <p:sp>
        <p:nvSpPr>
          <p:cNvPr id="38" name="Text 29"/>
          <p:cNvSpPr txBox="1"/>
          <p:nvPr/>
        </p:nvSpPr>
        <p:spPr>
          <a:xfrm>
            <a:off x="117317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023360" cy="4023360"/>
          </a:xfrm>
          <a:prstGeom prst="ellipse">
            <a:avLst/>
          </a:prstGeom>
          <a:solidFill>
            <a:srgbClr val="1F3F6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D6A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DECISION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pathogen identity is not a feature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1417320"/>
          </a:xfrm>
          <a:prstGeom prst="roundRect">
            <a:avLst>
              <a:gd name="adj" fmla="val 4516"/>
            </a:avLst>
          </a:prstGeom>
          <a:solidFill>
            <a:srgbClr val="1F3F6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96596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“It would be trivial to add `pathogen` as a feature and inflate AUC — but by the time an organism is identified, the empiric decision this tool exists to support has already been made.”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D6A94A"/>
          </a:solidFill>
          <a:ln/>
        </p:spPr>
      </p:sp>
      <p:pic>
        <p:nvPicPr>
          <p:cNvPr id="8" name="Image 0" descr="/home/claude/icons/che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3483864"/>
            <a:ext cx="347472" cy="34747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3977640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6A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Clinical realism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297680"/>
            <a:ext cx="3502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CEE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model is only useful if it works with information available before culture ID — including pathogen would silently leak the future.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25112" y="3429000"/>
            <a:ext cx="457200" cy="457200"/>
          </a:xfrm>
          <a:prstGeom prst="ellipse">
            <a:avLst/>
          </a:prstGeom>
          <a:solidFill>
            <a:srgbClr val="D6A94A"/>
          </a:solidFill>
          <a:ln/>
        </p:spPr>
      </p:sp>
      <p:pic>
        <p:nvPicPr>
          <p:cNvPr id="12" name="Image 1" descr="/home/claude/icons/targe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348386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25112" y="3977640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6A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harder, honest benchmark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4325112" y="4297680"/>
            <a:ext cx="3502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CEE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AUC-ROC in this deck (0.696–0.724) reflects prediction from risk factors alone — a materially harder task than pathogen-informed classification.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10144" y="3429000"/>
            <a:ext cx="457200" cy="457200"/>
          </a:xfrm>
          <a:prstGeom prst="ellipse">
            <a:avLst/>
          </a:prstGeom>
          <a:solidFill>
            <a:srgbClr val="D6A94A"/>
          </a:solidFill>
          <a:ln/>
        </p:spPr>
      </p:sp>
      <p:pic>
        <p:nvPicPr>
          <p:cNvPr id="16" name="Image 2" descr="/home/claude/icons/clo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348386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977640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6A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Matches real deployment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010144" y="4297680"/>
            <a:ext cx="3502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CEE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the point a pharmacist would consult this tool, pathogen is genuinely unknown — the feature set mirrors the deployment moment exactly.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 — FEATURE ENGINEERING</a:t>
            </a:r>
            <a:endParaRPr lang="en-US" sz="850" dirty="0"/>
          </a:p>
        </p:txBody>
      </p:sp>
      <p:sp>
        <p:nvSpPr>
          <p:cNvPr id="20" name="Text 15"/>
          <p:cNvSpPr txBox="1"/>
          <p:nvPr/>
        </p:nvSpPr>
        <p:spPr>
          <a:xfrm>
            <a:off x="6245352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ANTHONY CHINEDU ECHEM  •  AMR RESISTANCE PREDICTOR</a:t>
            </a:r>
            <a:endParaRPr lang="en-US" sz="850" dirty="0"/>
          </a:p>
        </p:txBody>
      </p:sp>
      <p:sp>
        <p:nvSpPr>
          <p:cNvPr id="21" name="Text 16"/>
          <p:cNvSpPr txBox="1"/>
          <p:nvPr/>
        </p:nvSpPr>
        <p:spPr>
          <a:xfrm>
            <a:off x="117317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206240" cy="4206240"/>
          </a:xfrm>
          <a:prstGeom prst="ellipse">
            <a:avLst/>
          </a:prstGeom>
          <a:solidFill>
            <a:srgbClr val="1F3F60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0C1F3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3F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868680" y="2880360"/>
            <a:ext cx="822960" cy="822960"/>
          </a:xfrm>
          <a:prstGeom prst="ellipse">
            <a:avLst/>
          </a:prstGeom>
          <a:solidFill>
            <a:srgbClr val="D6A94A"/>
          </a:solidFill>
          <a:ln/>
        </p:spPr>
      </p:sp>
      <p:pic>
        <p:nvPicPr>
          <p:cNvPr id="6" name="Image 0" descr="/home/claude/icons/cpu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2979115"/>
            <a:ext cx="625450" cy="62545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2944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6A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FOUR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33756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Modeling Approach</a:t>
            </a:r>
            <a:endParaRPr lang="en-US" sz="4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7091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DCEE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bank of six independent gradient-boosted classifiers, tuned for a small, structured, honest feature set.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4 OF 7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Binary relevance: six independent classifiers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Rather than one model predicting six labels jointly, the system trains one dedicated XGBoost binary classifier per antibiotic class — a "binary relevance" multi-label design that keeps each class independently tunable and auditable.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286000" cy="3383280"/>
          </a:xfrm>
          <a:prstGeom prst="roundRect">
            <a:avLst>
              <a:gd name="adj" fmla="val 2800"/>
            </a:avLst>
          </a:prstGeom>
          <a:solidFill>
            <a:srgbClr val="1632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788920"/>
            <a:ext cx="457200" cy="457200"/>
          </a:xfrm>
          <a:prstGeom prst="ellipse">
            <a:avLst/>
          </a:prstGeom>
          <a:solidFill>
            <a:srgbClr val="D6A94A"/>
          </a:solidFill>
          <a:ln/>
        </p:spPr>
      </p:sp>
      <p:pic>
        <p:nvPicPr>
          <p:cNvPr id="7" name="Image 0" descr="/home/claude/icons/layer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843784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337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vector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DCEE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 inputs per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DCEE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culture episode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349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D6A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Feeds all six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D6A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classifiers →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2606040"/>
            <a:ext cx="28346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0E7C7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83280" y="2606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XGBClassifier — Penicillins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46120" y="3236976"/>
            <a:ext cx="28346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0E7C7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383280" y="323697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XGBClassifier — Cephalosporins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246120" y="3867912"/>
            <a:ext cx="28346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0E7C7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383280" y="38679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XGBClassifier — Fluoroquinolones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246120" y="4498848"/>
            <a:ext cx="28346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0E7C7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383280" y="44988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XGBClassifier — Carbapenems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246120" y="5129784"/>
            <a:ext cx="28346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0E7C7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383280" y="512978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XGBClassifier — Aminoglycosides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246120" y="5760720"/>
            <a:ext cx="28346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0E7C7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383280" y="5760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XGBClassifier — Glycopeptides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537960" y="2606040"/>
            <a:ext cx="1508760" cy="502920"/>
          </a:xfrm>
          <a:prstGeom prst="roundRect">
            <a:avLst>
              <a:gd name="adj" fmla="val 50909"/>
            </a:avLst>
          </a:prstGeom>
          <a:solidFill>
            <a:srgbClr val="DCEEE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537960" y="26060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P(resistant)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537960" y="3236976"/>
            <a:ext cx="1508760" cy="502920"/>
          </a:xfrm>
          <a:prstGeom prst="roundRect">
            <a:avLst>
              <a:gd name="adj" fmla="val 50909"/>
            </a:avLst>
          </a:prstGeom>
          <a:solidFill>
            <a:srgbClr val="DCEEED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537960" y="3236976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P(resistant)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537960" y="3867912"/>
            <a:ext cx="1508760" cy="502920"/>
          </a:xfrm>
          <a:prstGeom prst="roundRect">
            <a:avLst>
              <a:gd name="adj" fmla="val 50909"/>
            </a:avLst>
          </a:prstGeom>
          <a:solidFill>
            <a:srgbClr val="DCEEED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537960" y="386791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P(resistant)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537960" y="4498848"/>
            <a:ext cx="1508760" cy="502920"/>
          </a:xfrm>
          <a:prstGeom prst="roundRect">
            <a:avLst>
              <a:gd name="adj" fmla="val 50909"/>
            </a:avLst>
          </a:prstGeom>
          <a:solidFill>
            <a:srgbClr val="DCEEED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537960" y="449884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P(resistant)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537960" y="5129784"/>
            <a:ext cx="1508760" cy="502920"/>
          </a:xfrm>
          <a:prstGeom prst="roundRect">
            <a:avLst>
              <a:gd name="adj" fmla="val 50909"/>
            </a:avLst>
          </a:prstGeom>
          <a:solidFill>
            <a:srgbClr val="DCEEED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537960" y="5129784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P(resistant)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537960" y="5760720"/>
            <a:ext cx="1508760" cy="502920"/>
          </a:xfrm>
          <a:prstGeom prst="roundRect">
            <a:avLst>
              <a:gd name="adj" fmla="val 50909"/>
            </a:avLst>
          </a:prstGeom>
          <a:solidFill>
            <a:srgbClr val="DCEEED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6537960" y="57607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P(resistant)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8366760" y="2606040"/>
            <a:ext cx="3154680" cy="3383280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859536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binary relevance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8595360" y="3154680"/>
            <a:ext cx="274320" cy="2743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38" name="Image 1" descr="/home/claud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8278" y="3187598"/>
            <a:ext cx="208483" cy="208483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8961120" y="31089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class can be independently re-tuned or re-thresholded per stewardship priority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8595360" y="4023360"/>
            <a:ext cx="274320" cy="2743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41" name="Image 2" descr="/home/claud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278" y="4056278"/>
            <a:ext cx="208483" cy="208483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8961120" y="39776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single class’s label noise cannot degrade another class’s model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8595360" y="4892040"/>
            <a:ext cx="274320" cy="2743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44" name="Image 3" descr="/home/claud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8278" y="4924958"/>
            <a:ext cx="208483" cy="208483"/>
          </a:xfrm>
          <a:prstGeom prst="rect">
            <a:avLst/>
          </a:prstGeom>
        </p:spPr>
      </p:pic>
      <p:sp>
        <p:nvSpPr>
          <p:cNvPr id="45" name="Text 39"/>
          <p:cNvSpPr txBox="1"/>
          <p:nvPr/>
        </p:nvSpPr>
        <p:spPr>
          <a:xfrm>
            <a:off x="8961120" y="48463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Per-class feature importance stays directly interpretable for pharmacist review</a:t>
            </a:r>
            <a:endParaRPr lang="en-US" sz="1000" dirty="0"/>
          </a:p>
        </p:txBody>
      </p:sp>
      <p:sp>
        <p:nvSpPr>
          <p:cNvPr id="46" name="Text 40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 — MODELING APPROACH</a:t>
            </a:r>
            <a:endParaRPr lang="en-US" sz="850" dirty="0"/>
          </a:p>
        </p:txBody>
      </p:sp>
      <p:sp>
        <p:nvSpPr>
          <p:cNvPr id="47" name="Text 41"/>
          <p:cNvSpPr txBox="1"/>
          <p:nvPr/>
        </p:nvSpPr>
        <p:spPr>
          <a:xfrm>
            <a:off x="6245352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ANTHONY CHINEDU ECHEM  •  AMR RESISTANCE PREDICTOR</a:t>
            </a:r>
            <a:endParaRPr lang="en-US" sz="850" dirty="0"/>
          </a:p>
        </p:txBody>
      </p:sp>
      <p:sp>
        <p:nvSpPr>
          <p:cNvPr id="48" name="Text 42"/>
          <p:cNvSpPr txBox="1"/>
          <p:nvPr/>
        </p:nvSpPr>
        <p:spPr>
          <a:xfrm>
            <a:off x="117317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CONFIGURATION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tuned configuration, shared across all six classifiers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same hyperparameter configuration is reused for every class-specific classifier — a deliberately conservative, shallow-tree setup chosen to resist overfitting on an 11-feature input space.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257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542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712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Boosting rounds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24688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364992"/>
            <a:ext cx="5257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4381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767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Shallow trees — controls overfitting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336499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261104"/>
            <a:ext cx="5257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3342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learning_rate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663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Conservative shrinkage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3246120" y="426110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0.08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5157216"/>
            <a:ext cx="5257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52303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subsample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559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Row sampling per tree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3246120" y="5157216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0.85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63640" y="2468880"/>
            <a:ext cx="5257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2542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colsample_bytree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28712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Column sampling per tree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869680" y="24688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0.85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63640" y="3364992"/>
            <a:ext cx="5257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46520" y="34381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3767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Calibrated probability output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8869680" y="336499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binary:logistic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63640" y="4261104"/>
            <a:ext cx="5257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46520" y="43342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eval_metric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446520" y="4663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Matches the reporting metric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8869680" y="426110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auc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263640" y="5157216"/>
            <a:ext cx="5257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46520" y="52303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6446520" y="5559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Reproducibility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8869680" y="5157216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 — MODELING APPROACH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6245352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ANTHONY CHINEDU ECHEM  •  AMR RESISTANCE PREDICTOR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117317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SELECTION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gradient-boosted trees fit this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02152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84248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/home/claude/icons/gri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039112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41248" y="2569464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Built for tabular, mixed-type data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880360"/>
            <a:ext cx="30998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Binary risk flags and a numeric month field are exactly the input XGBoost was designed to split on — no embedding or scaling required.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25112" y="1783080"/>
            <a:ext cx="3502152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98424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1" name="Image 1" descr="/home/claude/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203911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26280" y="2569464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Native missing-value handling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880360"/>
            <a:ext cx="30998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 EHR extracts have gaps; XGBoost routes missing values through learned default splits instead of requiring imputation upstream.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010144" y="1783080"/>
            <a:ext cx="3502152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11312" y="1984248"/>
            <a:ext cx="457200" cy="457200"/>
          </a:xfrm>
          <a:prstGeom prst="ellipse">
            <a:avLst/>
          </a:prstGeom>
          <a:solidFill>
            <a:srgbClr val="B0403F"/>
          </a:solidFill>
          <a:ln/>
        </p:spPr>
      </p:sp>
      <p:pic>
        <p:nvPicPr>
          <p:cNvPr id="16" name="Image 2" descr="/home/claude/icons/refres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6" y="2039112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11312" y="2569464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 to retrain monthly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8211312" y="2880360"/>
            <a:ext cx="30998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13,500-row training pass finishes in seconds — essential if a stewardship program wants to refresh the model on a antibiogram-like cadence.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40080" y="3840480"/>
            <a:ext cx="3502152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1248" y="4041648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21" name="Image 3" descr="/home/claude/icons/ey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96512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41248" y="4626864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Transparent feature importance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841248" y="4937760"/>
            <a:ext cx="30998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Gain-based importance per class gives a pharmacist a defensible, auditable explanation for each risk score (Slide 26).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325112" y="3840480"/>
            <a:ext cx="3502152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404164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6" name="Image 4" descr="/home/claude/icons/barchar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1144" y="4096512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26280" y="4626864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Handles class imbalance gracefully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4526280" y="4937760"/>
            <a:ext cx="30998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Prevalence ranges 31.9%–70.4% across classes; tree-based splitting is robust to this without synthetic oversampling.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8010144" y="3840480"/>
            <a:ext cx="3502152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11312" y="4041648"/>
            <a:ext cx="457200" cy="457200"/>
          </a:xfrm>
          <a:prstGeom prst="ellipse">
            <a:avLst/>
          </a:prstGeom>
          <a:solidFill>
            <a:srgbClr val="B0403F"/>
          </a:solidFill>
          <a:ln/>
        </p:spPr>
      </p:sp>
      <p:pic>
        <p:nvPicPr>
          <p:cNvPr id="31" name="Image 5" descr="/home/claude/icons/shiel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6176" y="4096512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11312" y="4626864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Battle-tested in healthcare ML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8211312" y="4937760"/>
            <a:ext cx="30998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Gradient boosting is a standard, well-validated choice for clinical risk scoring, easing review by a technical stewardship committee.</a:t>
            </a:r>
            <a:endParaRPr lang="en-US" sz="95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 — MODELING APPROACH</a:t>
            </a:r>
            <a:endParaRPr lang="en-US" sz="850" dirty="0"/>
          </a:p>
        </p:txBody>
      </p:sp>
      <p:sp>
        <p:nvSpPr>
          <p:cNvPr id="35" name="Text 27"/>
          <p:cNvSpPr txBox="1"/>
          <p:nvPr/>
        </p:nvSpPr>
        <p:spPr>
          <a:xfrm>
            <a:off x="6245352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ANTHONY CHINEDU ECHEM  •  AMR RESISTANCE PREDICTOR</a:t>
            </a:r>
            <a:endParaRPr lang="en-US" sz="850" dirty="0"/>
          </a:p>
        </p:txBody>
      </p:sp>
      <p:sp>
        <p:nvSpPr>
          <p:cNvPr id="36" name="Text 28"/>
          <p:cNvSpPr txBox="1"/>
          <p:nvPr/>
        </p:nvSpPr>
        <p:spPr>
          <a:xfrm>
            <a:off x="117317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VALIDATION DESIGN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held-out split sized for stable per-class estimates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18,000 episodes are split 75/25 into training and held-out test sets — large enough that per-class AUC-ROC on 4,500 test episodes is a stable estimate, not a noisy one.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9436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651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13,500 / 4,500 split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3291840"/>
            <a:ext cx="4046220" cy="822960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8" name="Shape 6"/>
          <p:cNvSpPr/>
          <p:nvPr/>
        </p:nvSpPr>
        <p:spPr>
          <a:xfrm>
            <a:off x="4960620" y="3291840"/>
            <a:ext cx="1348740" cy="822960"/>
          </a:xfrm>
          <a:prstGeom prst="rect">
            <a:avLst/>
          </a:prstGeom>
          <a:solidFill>
            <a:srgbClr val="B040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291840"/>
            <a:ext cx="40462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13,500 (75%)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960620" y="3291840"/>
            <a:ext cx="13487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4,500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(25%)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43484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Held-out test episodes are never seen during model fitting or hyperparameter selection — evaluation_report.json and metrics.json are both computed on this identical 4,500-row split.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0" y="2468880"/>
            <a:ext cx="466344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132320" y="2651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Beyond the static split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3017520"/>
            <a:ext cx="4114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single random split can flatter a model that happens to fit one snapshot in time. Section 06 goes further, replaying training and evaluation across three rolling-origin folds spanning months 12 through 30 — the real test of whether this model survives antibiogram drift.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32320" y="5120640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6" name="Image 0" descr="/home/claude/icons/arrowrigh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1698" y="5170018"/>
            <a:ext cx="312725" cy="31272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680960" y="51937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See Section 06 — Temporal Robustness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 — MODELING APPROACH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245352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ANTHONY CHINEDU ECHEM  •  AMR RESISTANCE PREDICTOR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117317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INTERPRETABILITY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drives a carbapenem-resistance prediction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Gain-based feature importance from the carbapenems classifier — the pattern generalizes across all six classifiers, with note-derived MDRO history consistently the strongest single signal.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6949440" cy="374904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868680" y="2560320"/>
          <a:ext cx="64922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2423160"/>
            <a:ext cx="3566160" cy="37490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46720" y="2651760"/>
            <a:ext cx="457200" cy="457200"/>
          </a:xfrm>
          <a:prstGeom prst="ellipse">
            <a:avLst/>
          </a:prstGeom>
          <a:solidFill>
            <a:srgbClr val="C9822B"/>
          </a:solidFill>
          <a:ln/>
        </p:spPr>
      </p:sp>
      <p:pic>
        <p:nvPicPr>
          <p:cNvPr id="9" name="Image 0" descr="/home/claude/icons/bulb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584" y="2706624"/>
            <a:ext cx="347472" cy="34747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04672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Reading the signal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8046720" y="35204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documented prior MDRO history carries roughly 2.3× the weight of the next strongest feature (recent hospitalization) — consistent with the clinical intuition that resistance tends to recur in the same patient.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8046720" y="50749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Together, the top three features account for the majority of total gain — a compact, explainable decision basis for pharmacist review.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 — MODELING APPROACH</a:t>
            </a:r>
            <a:endParaRPr lang="en-US" sz="850" dirty="0"/>
          </a:p>
        </p:txBody>
      </p:sp>
      <p:sp>
        <p:nvSpPr>
          <p:cNvPr id="14" name="Text 10"/>
          <p:cNvSpPr txBox="1"/>
          <p:nvPr/>
        </p:nvSpPr>
        <p:spPr>
          <a:xfrm>
            <a:off x="6245352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ANTHONY CHINEDU ECHEM  •  AMR RESISTANCE PREDICTOR</a:t>
            </a:r>
            <a:endParaRPr lang="en-US" sz="850" dirty="0"/>
          </a:p>
        </p:txBody>
      </p:sp>
      <p:sp>
        <p:nvSpPr>
          <p:cNvPr id="15" name="Text 11"/>
          <p:cNvSpPr txBox="1"/>
          <p:nvPr/>
        </p:nvSpPr>
        <p:spPr>
          <a:xfrm>
            <a:off x="117317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206240" cy="4206240"/>
          </a:xfrm>
          <a:prstGeom prst="ellipse">
            <a:avLst/>
          </a:prstGeom>
          <a:solidFill>
            <a:srgbClr val="1F3F60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0C1F3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3F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868680" y="2880360"/>
            <a:ext cx="822960" cy="822960"/>
          </a:xfrm>
          <a:prstGeom prst="ellipse">
            <a:avLst/>
          </a:prstGeom>
          <a:solidFill>
            <a:srgbClr val="D6A94A"/>
          </a:solidFill>
          <a:ln/>
        </p:spPr>
      </p:sp>
      <p:pic>
        <p:nvPicPr>
          <p:cNvPr id="6" name="Image 0" descr="/home/claude/icons/barchar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2979115"/>
            <a:ext cx="625450" cy="62545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2944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6A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FIVE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33756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 &amp; Validation</a:t>
            </a:r>
            <a:endParaRPr lang="en-US" sz="4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7091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DCEE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the model was scored — and how it compares to the antibiogram-only status quo.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5 OF 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 DESIGN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Metrics chosen to match clinical use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is a triage-ranking tool, not a yes/no diagnosis — so the metrics were chosen to reward correct rank-ordering of risk and correct capture of the highest-stakes cases, not raw accuracy.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3502152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734056"/>
            <a:ext cx="502920" cy="50292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7" name="Image 0" descr="/home/claude/icons/trend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2794406"/>
            <a:ext cx="382219" cy="38221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9536" y="33832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AUC-ROC (primary)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59536" y="393192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Measures how well the model ranks resistant above susceptible episodes across every possible decision threshold — threshold-independent, ideal for a tool a pharmacist will calibrate locally.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25112" y="2514600"/>
            <a:ext cx="3502152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44568" y="2734056"/>
            <a:ext cx="502920" cy="502920"/>
          </a:xfrm>
          <a:prstGeom prst="ellipse">
            <a:avLst/>
          </a:prstGeom>
          <a:solidFill>
            <a:srgbClr val="95A0A9"/>
          </a:solidFill>
          <a:ln/>
        </p:spPr>
      </p:sp>
      <p:pic>
        <p:nvPicPr>
          <p:cNvPr id="12" name="Image 1" descr="/home/claude/icons/targe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918" y="2794406"/>
            <a:ext cx="382219" cy="38221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44568" y="33832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Antibiogram baseline (0.50)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44568" y="393192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honest counterfactual: a blind guess with no patient-specific information. Every gain reported is measured against this floor, not an arbitrary weak model.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10144" y="2514600"/>
            <a:ext cx="3502152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0" y="2734056"/>
            <a:ext cx="502920" cy="502920"/>
          </a:xfrm>
          <a:prstGeom prst="ellipse">
            <a:avLst/>
          </a:prstGeom>
          <a:solidFill>
            <a:srgbClr val="B0403F"/>
          </a:solidFill>
          <a:ln/>
        </p:spPr>
      </p:sp>
      <p:pic>
        <p:nvPicPr>
          <p:cNvPr id="17" name="Image 2" descr="/home/claude/icons/ale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9950" y="2794406"/>
            <a:ext cx="382219" cy="382219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29600" y="33832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MDRO sensitivity (recall)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8229600" y="393192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the highest-risk composite group, missing a true positive is far costlier than a false alarm — recall on the MDRO flag is tracked as a dedicated safety metric alongside AUC-ROC.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 — EVALUATION &amp; VALIDATION</a:t>
            </a:r>
            <a:endParaRPr lang="en-US" sz="850" dirty="0"/>
          </a:p>
        </p:txBody>
      </p:sp>
      <p:sp>
        <p:nvSpPr>
          <p:cNvPr id="21" name="Text 16"/>
          <p:cNvSpPr txBox="1"/>
          <p:nvPr/>
        </p:nvSpPr>
        <p:spPr>
          <a:xfrm>
            <a:off x="6245352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ANTHONY CHINEDU ECHEM  •  AMR RESISTANCE PREDICTOR</a:t>
            </a:r>
            <a:endParaRPr lang="en-US" sz="850" dirty="0"/>
          </a:p>
        </p:txBody>
      </p:sp>
      <p:sp>
        <p:nvSpPr>
          <p:cNvPr id="22" name="Text 17"/>
          <p:cNvSpPr txBox="1"/>
          <p:nvPr/>
        </p:nvSpPr>
        <p:spPr>
          <a:xfrm>
            <a:off x="117317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27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HELD-OUT RESULTS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Per-antibiotic-class discrimination (n = 4,500)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31520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868680" y="1965960"/>
          <a:ext cx="68580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68680" y="580644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Dashed reference: 0.50 antibiogram-only baseline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8138160" y="1783080"/>
            <a:ext cx="338328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88900" dist="25400" dir="5400000">
              <a:srgbClr val="3A3225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394192" y="2057400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0.717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394192" y="2514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 AUC-ROC across all six classes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138160" y="3246120"/>
            <a:ext cx="338328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88900" dist="25400" dir="5400000">
              <a:srgbClr val="3A3225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394192" y="3520440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0.028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8394192" y="3977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Spread between highest and lowest scoring class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138160" y="4709160"/>
            <a:ext cx="3383280" cy="1371600"/>
          </a:xfrm>
          <a:prstGeom prst="roundRect">
            <a:avLst>
              <a:gd name="adj" fmla="val 4667"/>
            </a:avLst>
          </a:prstGeom>
          <a:solidFill>
            <a:srgbClr val="F5E6C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366760" y="489204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Penicillins remain the hardest class — consistent with the widest, most heterogeneous resistance mechanisms of the six.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 — EVALUATION &amp; VALIDATION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6245352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ANTHONY CHINEDU ECHEM  •  AMR RESISTANCE PREDICTOR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7317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28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BASELINE COMPARISON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class beats the honest floor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blind antibiogram-only baseline scores exactly 0.50 AUC-ROC by construction — no information, no discrimination. Every one of the six classifiers clears that floor by a wide, consistent margin.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1088136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Penicillins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08960" y="2884018"/>
            <a:ext cx="6840558" cy="21122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Shape 6"/>
          <p:cNvSpPr/>
          <p:nvPr/>
        </p:nvSpPr>
        <p:spPr>
          <a:xfrm>
            <a:off x="7040880" y="2761488"/>
            <a:ext cx="0" cy="466344"/>
          </a:xfrm>
          <a:prstGeom prst="line">
            <a:avLst/>
          </a:prstGeom>
          <a:noFill/>
          <a:ln w="22225">
            <a:solidFill>
              <a:srgbClr val="B0403F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10040958" y="27432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0.6959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246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Cephalosporins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0" y="3386938"/>
            <a:ext cx="7118741" cy="21122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2" name="Shape 10"/>
          <p:cNvSpPr/>
          <p:nvPr/>
        </p:nvSpPr>
        <p:spPr>
          <a:xfrm>
            <a:off x="7040880" y="3264408"/>
            <a:ext cx="0" cy="466344"/>
          </a:xfrm>
          <a:prstGeom prst="line">
            <a:avLst/>
          </a:prstGeom>
          <a:noFill/>
          <a:ln w="22225">
            <a:solidFill>
              <a:srgbClr val="B0403F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10319141" y="32461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0.7242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749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Fluoroquinolones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08960" y="3889858"/>
            <a:ext cx="7092201" cy="21122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6" name="Shape 14"/>
          <p:cNvSpPr/>
          <p:nvPr/>
        </p:nvSpPr>
        <p:spPr>
          <a:xfrm>
            <a:off x="7040880" y="3767328"/>
            <a:ext cx="0" cy="466344"/>
          </a:xfrm>
          <a:prstGeom prst="line">
            <a:avLst/>
          </a:prstGeom>
          <a:noFill/>
          <a:ln w="22225">
            <a:solidFill>
              <a:srgbClr val="B0403F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10292601" y="37490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0.7215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251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Carbapenems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08960" y="4392778"/>
            <a:ext cx="7035188" cy="21122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0" name="Shape 18"/>
          <p:cNvSpPr/>
          <p:nvPr/>
        </p:nvSpPr>
        <p:spPr>
          <a:xfrm>
            <a:off x="7040880" y="4270248"/>
            <a:ext cx="0" cy="466344"/>
          </a:xfrm>
          <a:prstGeom prst="line">
            <a:avLst/>
          </a:prstGeom>
          <a:noFill/>
          <a:ln w="22225">
            <a:solidFill>
              <a:srgbClr val="B0403F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10235588" y="42519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0.7157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4754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Aminoglycosides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08960" y="4895698"/>
            <a:ext cx="7083354" cy="21122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4" name="Shape 22"/>
          <p:cNvSpPr/>
          <p:nvPr/>
        </p:nvSpPr>
        <p:spPr>
          <a:xfrm>
            <a:off x="7040880" y="4773168"/>
            <a:ext cx="0" cy="466344"/>
          </a:xfrm>
          <a:prstGeom prst="line">
            <a:avLst/>
          </a:prstGeom>
          <a:noFill/>
          <a:ln w="22225">
            <a:solidFill>
              <a:srgbClr val="B0403F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10283754" y="47548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0.7206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5257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Glycopeptides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108960" y="5398618"/>
            <a:ext cx="7110877" cy="21122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8" name="Shape 26"/>
          <p:cNvSpPr/>
          <p:nvPr/>
        </p:nvSpPr>
        <p:spPr>
          <a:xfrm>
            <a:off x="7040880" y="5276088"/>
            <a:ext cx="0" cy="466344"/>
          </a:xfrm>
          <a:prstGeom prst="line">
            <a:avLst/>
          </a:prstGeom>
          <a:noFill/>
          <a:ln w="22225">
            <a:solidFill>
              <a:srgbClr val="B0403F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10311277" y="52578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0.7234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537960" y="5806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4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│ 0.50 baseline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 — EVALUATION &amp; VALIDATION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6245352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ANTHONY CHINEDU ECHEM  •  AMR RESISTANCE PREDICTOR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117317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29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SAFETY-CRITICAL METRIC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MDRO sensitivity: catching the highest-stakes cases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60.2% of the cohort carries the composite multi-drug-resistant organism flag. For this group, a missed positive (false negative) risks an ineffective empiric choice against the hardest-to-treat infections — so recall, not just AUC, is tracked explicitly.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4206240" cy="3429000"/>
          </a:xfrm>
          <a:prstGeom prst="roundRect">
            <a:avLst>
              <a:gd name="adj" fmla="val 2133"/>
            </a:avLst>
          </a:prstGeom>
          <a:solidFill>
            <a:srgbClr val="1632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834640"/>
            <a:ext cx="502920" cy="502920"/>
          </a:xfrm>
          <a:prstGeom prst="ellipse">
            <a:avLst/>
          </a:prstGeom>
          <a:solidFill>
            <a:srgbClr val="D6A94A"/>
          </a:solidFill>
          <a:ln/>
        </p:spPr>
      </p:sp>
      <p:pic>
        <p:nvPicPr>
          <p:cNvPr id="7" name="Image 0" descr="/home/claude/icons/aler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30" y="2894990"/>
            <a:ext cx="382219" cy="38221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5204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78.2%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434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A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MDRO sensitivity (recall)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80060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DCEE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 all true MDRO-positive episodes in the held-out test set, the model flags 78.2% as elevated risk — a +52.7% relative improvement over the 0.50 no-information floor for this subgroup.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074920" y="2606040"/>
            <a:ext cx="626364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349240" y="27889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Reading recall the right way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349240" y="3200400"/>
            <a:ext cx="329184" cy="32918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4" name="Image 1" descr="/home/claud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8742" y="3239902"/>
            <a:ext cx="250180" cy="2501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06440" y="318211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 a diagnosis threshold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5806440" y="3438144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is a triage flag: an elevated-risk episode still requires confirmatory culture and pharmacist judgment before any therapy change.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349240" y="4096512"/>
            <a:ext cx="329184" cy="32918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8" name="Image 2" descr="/home/claud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8742" y="4136014"/>
            <a:ext cx="250180" cy="2501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806440" y="407822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Recall vs. precision trade-off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5806440" y="4334256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operating threshold is tunable — a stewardship program can trade sensitivity against alert volume to fit local workflow tolerance.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349240" y="4992624"/>
            <a:ext cx="329184" cy="32918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2" name="Image 3" descr="/home/claud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8742" y="5032126"/>
            <a:ext cx="250180" cy="25018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806440" y="497433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it is reported separately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5806440" y="523036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AUC-ROC alone can hide performance at the specific decision boundary that matters clinically; MDRO recall makes that boundary explicit.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 — EVALUATION &amp; VALIDATION</a:t>
            </a:r>
            <a:endParaRPr lang="en-US" sz="850" dirty="0"/>
          </a:p>
        </p:txBody>
      </p:sp>
      <p:sp>
        <p:nvSpPr>
          <p:cNvPr id="26" name="Text 20"/>
          <p:cNvSpPr txBox="1"/>
          <p:nvPr/>
        </p:nvSpPr>
        <p:spPr>
          <a:xfrm>
            <a:off x="6245352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ANTHONY CHINEDU ECHEM  •  AMR RESISTANCE PREDICTOR</a:t>
            </a:r>
            <a:endParaRPr lang="en-US" sz="850" dirty="0"/>
          </a:p>
        </p:txBody>
      </p:sp>
      <p:sp>
        <p:nvSpPr>
          <p:cNvPr id="27" name="Text 21"/>
          <p:cNvSpPr txBox="1"/>
          <p:nvPr/>
        </p:nvSpPr>
        <p:spPr>
          <a:xfrm>
            <a:off x="117317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206240" cy="4206240"/>
          </a:xfrm>
          <a:prstGeom prst="ellipse">
            <a:avLst/>
          </a:prstGeom>
          <a:solidFill>
            <a:srgbClr val="1F3F60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0C1F3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3F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868680" y="2880360"/>
            <a:ext cx="822960" cy="822960"/>
          </a:xfrm>
          <a:prstGeom prst="ellipse">
            <a:avLst/>
          </a:prstGeom>
          <a:solidFill>
            <a:srgbClr val="D6A94A"/>
          </a:solidFill>
          <a:ln/>
        </p:spPr>
      </p:sp>
      <p:pic>
        <p:nvPicPr>
          <p:cNvPr id="6" name="Image 0" descr="/home/claude/icons/clo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2979115"/>
            <a:ext cx="625450" cy="62545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2944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6A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SIX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33756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Temporal Robustness</a:t>
            </a:r>
            <a:endParaRPr lang="en-US" sz="4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7091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DCEE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Antibiograms drift month to month — a model that only works on day one is not deployable.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6 OF 7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BACKTEST METHODOLOGY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Rolling-origin validation across simulated retrain cycles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Instead of one static split, the model is retrained from three successive "origin" months and evaluated on the six months that follow each origin — simulating how a stewardship program would actually operate a monthly-refreshed model.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3502152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89864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7" name="Image 0" descr="/home/claude/icons/refres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953512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2898648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Fold 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352044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 origin: month 12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3831336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window: months 12–18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41248" y="4233672"/>
            <a:ext cx="3099816" cy="10973"/>
          </a:xfrm>
          <a:prstGeom prst="rect">
            <a:avLst/>
          </a:prstGeom>
          <a:solidFill>
            <a:srgbClr val="E7E1D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41248" y="434340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4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2,944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4617720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held-out episodes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325112" y="2697480"/>
            <a:ext cx="3502152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26280" y="289864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6" name="Image 1" descr="/home/claude/icons/refres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2953512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102352" y="2898648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Fold 2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4526280" y="352044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 origin: month 18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4526280" y="3831336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window: months 18–24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526280" y="4233672"/>
            <a:ext cx="3099816" cy="10973"/>
          </a:xfrm>
          <a:prstGeom prst="rect">
            <a:avLst/>
          </a:prstGeom>
          <a:solidFill>
            <a:srgbClr val="E7E1D2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526280" y="434340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4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3,003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4526280" y="4617720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held-out episodes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8010144" y="2697480"/>
            <a:ext cx="3502152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211312" y="289864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5" name="Image 2" descr="/home/claude/icons/refres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6" y="2953512"/>
            <a:ext cx="347472" cy="347472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787384" y="2898648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Fold 3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8211312" y="352044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 origin: month 24</a:t>
            </a:r>
            <a:endParaRPr lang="en-US" sz="1150" dirty="0"/>
          </a:p>
        </p:txBody>
      </p:sp>
      <p:sp>
        <p:nvSpPr>
          <p:cNvPr id="28" name="Text 23"/>
          <p:cNvSpPr txBox="1"/>
          <p:nvPr/>
        </p:nvSpPr>
        <p:spPr>
          <a:xfrm>
            <a:off x="8211312" y="3831336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window: months 24–30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8211312" y="4233672"/>
            <a:ext cx="3099816" cy="10973"/>
          </a:xfrm>
          <a:prstGeom prst="rect">
            <a:avLst/>
          </a:prstGeom>
          <a:solidFill>
            <a:srgbClr val="E7E1D2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8211312" y="434340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4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2,995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8211312" y="4617720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held-out episodes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4160520" y="373075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3" descr="/home/claude/icons/arrowrigh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7828" y="3768060"/>
            <a:ext cx="236281" cy="236281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7845552" y="373075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4" descr="/home/claude/icons/arrowrigh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860" y="3768060"/>
            <a:ext cx="236281" cy="236281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640080" y="525780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DCEEED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914400" y="5413248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i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is a true forward-chaining design: each fold’s test window occurs entirely after its own training origin — no future data leaks backward into any fold.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 — TEMPORAL ROBUSTNESS</a:t>
            </a:r>
            <a:endParaRPr lang="en-US" sz="850" dirty="0"/>
          </a:p>
        </p:txBody>
      </p:sp>
      <p:sp>
        <p:nvSpPr>
          <p:cNvPr id="39" name="Text 32"/>
          <p:cNvSpPr txBox="1"/>
          <p:nvPr/>
        </p:nvSpPr>
        <p:spPr>
          <a:xfrm>
            <a:off x="6245352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ANTHONY CHINEDU ECHEM  •  AMR RESISTANCE PREDICTOR</a:t>
            </a:r>
            <a:endParaRPr lang="en-US" sz="850" dirty="0"/>
          </a:p>
        </p:txBody>
      </p:sp>
      <p:sp>
        <p:nvSpPr>
          <p:cNvPr id="40" name="Text 33"/>
          <p:cNvSpPr txBox="1"/>
          <p:nvPr/>
        </p:nvSpPr>
        <p:spPr>
          <a:xfrm>
            <a:off x="117317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32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BACKTEST RESULTS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Discrimination holds steady across all three folds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22376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914400" y="2011680"/>
          <a:ext cx="67208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138160" y="1783080"/>
            <a:ext cx="33832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88900" dist="25400" dir="5400000">
              <a:srgbClr val="3A3225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394192" y="2057400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1.29%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394192" y="25146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AUC drift, first fold to last fold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138160" y="3291840"/>
            <a:ext cx="3383280" cy="1417320"/>
          </a:xfrm>
          <a:prstGeom prst="roundRect">
            <a:avLst>
              <a:gd name="adj" fmla="val 4516"/>
            </a:avLst>
          </a:prstGeom>
          <a:solidFill>
            <a:srgbClr val="DCEEED"/>
          </a:solidFill>
          <a:ln/>
        </p:spPr>
      </p:sp>
      <p:sp>
        <p:nvSpPr>
          <p:cNvPr id="10" name="Shape 7"/>
          <p:cNvSpPr/>
          <p:nvPr/>
        </p:nvSpPr>
        <p:spPr>
          <a:xfrm>
            <a:off x="8366760" y="3502152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1" name="Image 0" descr="/home/claud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1624" y="3557016"/>
            <a:ext cx="347472" cy="34747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366760" y="4041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Meets retention target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366760" y="43159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Target: ≤ 5% drift, first-to-last fold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38160" y="4846320"/>
            <a:ext cx="33832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366760" y="50109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2,944 → 3,003 → 2,995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8366760" y="53035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6C7A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Consistent fold sizes rule out sample-size artifacts as the explanation for stability.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 — TEMPORAL ROBUSTNESS</a:t>
            </a:r>
            <a:endParaRPr lang="en-US" sz="850" dirty="0"/>
          </a:p>
        </p:txBody>
      </p:sp>
      <p:sp>
        <p:nvSpPr>
          <p:cNvPr id="18" name="Text 14"/>
          <p:cNvSpPr txBox="1"/>
          <p:nvPr/>
        </p:nvSpPr>
        <p:spPr>
          <a:xfrm>
            <a:off x="6245352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ANTHONY CHINEDU ECHEM  •  AMR RESISTANCE PREDICTOR</a:t>
            </a:r>
            <a:endParaRPr lang="en-US" sz="850" dirty="0"/>
          </a:p>
        </p:txBody>
      </p:sp>
      <p:sp>
        <p:nvSpPr>
          <p:cNvPr id="19" name="Text 15"/>
          <p:cNvSpPr txBox="1"/>
          <p:nvPr/>
        </p:nvSpPr>
        <p:spPr>
          <a:xfrm>
            <a:off x="117317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33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THE DRIFT RESULT MEANS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realistic case for a monthly retrain cadence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02152" cy="2926080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84248"/>
            <a:ext cx="475488" cy="475488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/home/claude/icons/refres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307" y="2041307"/>
            <a:ext cx="361371" cy="36137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41248" y="260604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antibiograms drift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3154680"/>
            <a:ext cx="30998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Resistance prevalence shifts as pathogen populations, prescribing patterns, and infection-control measures evolve — a static model is a decaying asset from day one.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5112" y="1783080"/>
            <a:ext cx="3502152" cy="2926080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984248"/>
            <a:ext cx="475488" cy="475488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/home/claude/icons/trend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3339" y="2041307"/>
            <a:ext cx="361371" cy="36137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26280" y="260604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1.29% is a good result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3154680"/>
            <a:ext cx="30998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near-flat drift over 18 simulated months of separation between the earliest and latest fold suggests the underlying feature–risk relationships generalize well beyond the training window.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10144" y="1783080"/>
            <a:ext cx="3502152" cy="2926080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11312" y="1984248"/>
            <a:ext cx="475488" cy="475488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/home/claude/icons/calend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371" y="2041307"/>
            <a:ext cx="361371" cy="36137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11312" y="260604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this justifies operationally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211312" y="3154680"/>
            <a:ext cx="30998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monthly or quarterly retrain — well within the ~seconds-per-fold training cost seen in Section 04 — comfortably keeps the model inside its 5% retention target indefinitely.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4892040"/>
            <a:ext cx="10881360" cy="1188720"/>
          </a:xfrm>
          <a:prstGeom prst="roundRect">
            <a:avLst>
              <a:gd name="adj" fmla="val 4615"/>
            </a:avLst>
          </a:prstGeom>
          <a:solidFill>
            <a:srgbClr val="16324F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5102352"/>
            <a:ext cx="548640" cy="548640"/>
          </a:xfrm>
          <a:prstGeom prst="ellipse">
            <a:avLst/>
          </a:prstGeom>
          <a:solidFill>
            <a:srgbClr val="D6A94A"/>
          </a:solidFill>
          <a:ln/>
        </p:spPr>
      </p:sp>
      <p:pic>
        <p:nvPicPr>
          <p:cNvPr id="21" name="Image 3" descr="/home/claude/icons/targe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517" y="5168189"/>
            <a:ext cx="416966" cy="41696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0020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A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Operational takeaway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1600200" y="532180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backtest is what turns "0.717 AUC-ROC" into a deployable claim — it shows the number holds up over time, not just on the day the model was trained.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 — TEMPORAL ROBUSTNESS</a:t>
            </a:r>
            <a:endParaRPr lang="en-US" sz="850" dirty="0"/>
          </a:p>
        </p:txBody>
      </p:sp>
      <p:sp>
        <p:nvSpPr>
          <p:cNvPr id="25" name="Text 19"/>
          <p:cNvSpPr txBox="1"/>
          <p:nvPr/>
        </p:nvSpPr>
        <p:spPr>
          <a:xfrm>
            <a:off x="6245352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ANTHONY CHINEDU ECHEM  •  AMR RESISTANCE PREDICTOR</a:t>
            </a:r>
            <a:endParaRPr lang="en-US" sz="850" dirty="0"/>
          </a:p>
        </p:txBody>
      </p:sp>
      <p:sp>
        <p:nvSpPr>
          <p:cNvPr id="26" name="Text 20"/>
          <p:cNvSpPr txBox="1"/>
          <p:nvPr/>
        </p:nvSpPr>
        <p:spPr>
          <a:xfrm>
            <a:off x="117317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34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206240" cy="4206240"/>
          </a:xfrm>
          <a:prstGeom prst="ellipse">
            <a:avLst/>
          </a:prstGeom>
          <a:solidFill>
            <a:srgbClr val="1F3F60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0C1F3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3F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868680" y="2880360"/>
            <a:ext cx="822960" cy="822960"/>
          </a:xfrm>
          <a:prstGeom prst="ellipse">
            <a:avLst/>
          </a:prstGeom>
          <a:solidFill>
            <a:srgbClr val="D6A94A"/>
          </a:solidFill>
          <a:ln/>
        </p:spPr>
      </p:sp>
      <p:pic>
        <p:nvPicPr>
          <p:cNvPr id="6" name="Image 0" descr="/home/claude/icons/shiel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2979115"/>
            <a:ext cx="625450" cy="62545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2944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6A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SEVEN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33756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Deployment &amp; Responsible Use</a:t>
            </a:r>
            <a:endParaRPr lang="en-US" sz="4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7091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DCEE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dashboard, a model card, and hard guardrails — the difference between a notebook result and a usable tool.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7 OF 7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DECISION-SUPPORT INTERFACE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reference dashboard, at a glance</a:t>
            </a:r>
            <a:endParaRPr lang="en-US" sz="2600" dirty="0"/>
          </a:p>
        </p:txBody>
      </p:sp>
      <p:pic>
        <p:nvPicPr>
          <p:cNvPr id="4" name="Image 0" descr="/home/claude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7818120" cy="4873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691640"/>
            <a:ext cx="7818120" cy="4873752"/>
          </a:xfrm>
          <a:prstGeom prst="rect">
            <a:avLst/>
          </a:prstGeom>
          <a:ln w="12700">
            <a:solidFill>
              <a:srgbClr val="E7E1D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0" y="1691640"/>
            <a:ext cx="2834640" cy="48920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91540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it surfaces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915400" y="2212848"/>
            <a:ext cx="256032" cy="256032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9" name="Image 1" descr="/home/claud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124" y="2243572"/>
            <a:ext cx="194584" cy="1945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217152" y="217627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Headline model KPIs — AUC-ROC, MDRO sensitivity, drift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8915400" y="2871216"/>
            <a:ext cx="256032" cy="256032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2" name="Image 2" descr="/home/claud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124" y="2901940"/>
            <a:ext cx="194584" cy="1945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217152" y="28346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Per-class discrimination ranking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8915400" y="3529584"/>
            <a:ext cx="256032" cy="256032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5" name="Image 3" descr="/home/claud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6124" y="3560308"/>
            <a:ext cx="194584" cy="19458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217152" y="349300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Rolling-origin backtest stability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8915400" y="4187952"/>
            <a:ext cx="256032" cy="256032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8" name="Image 4" descr="/home/claude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6124" y="4218676"/>
            <a:ext cx="194584" cy="19458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217152" y="415137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Cohort composition &amp; risk-factor mix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8915400" y="4846320"/>
            <a:ext cx="256032" cy="256032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1" name="Image 5" descr="/home/claude/icon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6124" y="4877044"/>
            <a:ext cx="194584" cy="19458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9217152" y="480974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stated model-card summary, in view at all times</a:t>
            </a:r>
            <a:endParaRPr lang="en-US" sz="950" dirty="0"/>
          </a:p>
        </p:txBody>
      </p:sp>
      <p:sp>
        <p:nvSpPr>
          <p:cNvPr id="23" name="Shape 15"/>
          <p:cNvSpPr/>
          <p:nvPr/>
        </p:nvSpPr>
        <p:spPr>
          <a:xfrm>
            <a:off x="8915400" y="5623560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F5DEDD"/>
          </a:solidFill>
          <a:ln/>
        </p:spPr>
      </p:sp>
      <p:sp>
        <p:nvSpPr>
          <p:cNvPr id="24" name="Text 16"/>
          <p:cNvSpPr txBox="1"/>
          <p:nvPr/>
        </p:nvSpPr>
        <p:spPr>
          <a:xfrm>
            <a:off x="9034272" y="570585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b="1" i="1" dirty="0">
                <a:solidFill>
                  <a:srgbClr val="B0403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Banner reads: "For stewardship pharmacist review — not for autonomous prescribing."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 — DEPLOYMENT &amp; RESPONSIBLE USE</a:t>
            </a:r>
            <a:endParaRPr lang="en-US" sz="850" dirty="0"/>
          </a:p>
        </p:txBody>
      </p:sp>
      <p:sp>
        <p:nvSpPr>
          <p:cNvPr id="26" name="Text 18"/>
          <p:cNvSpPr txBox="1"/>
          <p:nvPr/>
        </p:nvSpPr>
        <p:spPr>
          <a:xfrm>
            <a:off x="6245352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ANTHONY CHINEDU ECHEM  •  AMR RESISTANCE PREDICTOR</a:t>
            </a:r>
            <a:endParaRPr lang="en-US" sz="850" dirty="0"/>
          </a:p>
        </p:txBody>
      </p:sp>
      <p:sp>
        <p:nvSpPr>
          <p:cNvPr id="27" name="Text 19"/>
          <p:cNvSpPr txBox="1"/>
          <p:nvPr/>
        </p:nvSpPr>
        <p:spPr>
          <a:xfrm>
            <a:off x="117317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36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DOCUMENTATION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card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02152" cy="4206240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3502152" cy="73152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6" name="Shape 4"/>
          <p:cNvSpPr/>
          <p:nvPr/>
        </p:nvSpPr>
        <p:spPr>
          <a:xfrm>
            <a:off x="859536" y="2039112"/>
            <a:ext cx="502920" cy="50292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7" name="Image 0" descr="/home/claude/icons/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2099462"/>
            <a:ext cx="382219" cy="38221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9536" y="2697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Intended use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59536" y="315468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 support for empiric antibiotic selection, always reviewed by a stewardship pharmacist before any prescribing decision changes — explicitly not for autonomous prescribing.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25112" y="1783080"/>
            <a:ext cx="3502152" cy="4206240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25112" y="1783080"/>
            <a:ext cx="3502152" cy="73152"/>
          </a:xfrm>
          <a:prstGeom prst="rect">
            <a:avLst/>
          </a:prstGeom>
          <a:solidFill>
            <a:srgbClr val="B0403F"/>
          </a:solidFill>
          <a:ln/>
        </p:spPr>
      </p:sp>
      <p:sp>
        <p:nvSpPr>
          <p:cNvPr id="12" name="Shape 9"/>
          <p:cNvSpPr/>
          <p:nvPr/>
        </p:nvSpPr>
        <p:spPr>
          <a:xfrm>
            <a:off x="4544568" y="2039112"/>
            <a:ext cx="502920" cy="502920"/>
          </a:xfrm>
          <a:prstGeom prst="ellipse">
            <a:avLst/>
          </a:prstGeom>
          <a:solidFill>
            <a:srgbClr val="B0403F"/>
          </a:solidFill>
          <a:ln/>
        </p:spPr>
      </p:sp>
      <p:pic>
        <p:nvPicPr>
          <p:cNvPr id="13" name="Image 1" descr="/home/claude/icons/warn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918" y="2099462"/>
            <a:ext cx="382219" cy="38221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44568" y="2697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544568" y="315468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Synthetic cohort, not real-world clinical data. Note-derived flags come from regex pattern matching, not a fine-tuned clinical language model. Performance is scoped to the evaluated cohort.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010144" y="1783080"/>
            <a:ext cx="3502152" cy="4206240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225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010144" y="1783080"/>
            <a:ext cx="3502152" cy="731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8" name="Shape 14"/>
          <p:cNvSpPr/>
          <p:nvPr/>
        </p:nvSpPr>
        <p:spPr>
          <a:xfrm>
            <a:off x="8229600" y="2039112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9" name="Image 2" descr="/home/claude/icons/sen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9950" y="2099462"/>
            <a:ext cx="382219" cy="382219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229600" y="2697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0" y="315468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 ClinicalBERT-based note extraction, a live antibiogram feed for continuous retraining, clinical decision support (CDS) hooks at order entry, and exploration of whole-genome-sequencing resistance markers.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 — DEPLOYMENT &amp; RESPONSIBLE USE</a:t>
            </a:r>
            <a:endParaRPr lang="en-US" sz="850" dirty="0"/>
          </a:p>
        </p:txBody>
      </p:sp>
      <p:sp>
        <p:nvSpPr>
          <p:cNvPr id="23" name="Text 18"/>
          <p:cNvSpPr txBox="1"/>
          <p:nvPr/>
        </p:nvSpPr>
        <p:spPr>
          <a:xfrm>
            <a:off x="6245352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ANTHONY CHINEDU ECHEM  •  AMR RESISTANCE PREDICTOR</a:t>
            </a:r>
            <a:endParaRPr lang="en-US" sz="850" dirty="0"/>
          </a:p>
        </p:txBody>
      </p:sp>
      <p:sp>
        <p:nvSpPr>
          <p:cNvPr id="24" name="Text 19"/>
          <p:cNvSpPr txBox="1"/>
          <p:nvPr/>
        </p:nvSpPr>
        <p:spPr>
          <a:xfrm>
            <a:off x="117317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37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D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E7C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STEWARDSHIP GUARDRAILS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Responsible-AI design choices, not afterthoughts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56816"/>
            <a:ext cx="548640" cy="54864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/home/claude/icon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2022653"/>
            <a:ext cx="416966" cy="41696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8745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Human-in-the-loop by design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18541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prediction is a decision-support input reviewed by a stewardship pharmacist — the dashboard states this explicitly and permanently, not in fine print.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2788920"/>
            <a:ext cx="1088136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1248" y="2962656"/>
            <a:ext cx="548640" cy="54864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/home/claude/icons/targe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085" y="3028493"/>
            <a:ext cx="416966" cy="41696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00200" y="28803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Honest baseline reporting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1600200" y="319125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headline number is reported alongside the 0.50 blind baseline, never presented in isolation — no cherry-picked comparison.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3794760"/>
            <a:ext cx="1088136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1248" y="3968496"/>
            <a:ext cx="548640" cy="54864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/home/claude/icons/clipboar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85" y="4034333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0200" y="3886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Disclosed data limitations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1600200" y="419709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synthetic-cohort caveat and the regex-vs-ClinicalBERT gap are both first-class limitations in the model card, not buried assumptions.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4800600"/>
            <a:ext cx="1088136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7E1D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41248" y="4974336"/>
            <a:ext cx="548640" cy="54864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21" name="Image 3" descr="/home/claude/icons/clo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85" y="5040173"/>
            <a:ext cx="416966" cy="41696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00200" y="48920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Temporal validation before any drift claim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1600200" y="520293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E4A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stability claim is made without the rolling-origin backtest evidence to support it (Section 06).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 — DEPLOYMENT &amp; RESPONSIBLE USE</a:t>
            </a:r>
            <a:endParaRPr lang="en-US" sz="850" dirty="0"/>
          </a:p>
        </p:txBody>
      </p:sp>
      <p:sp>
        <p:nvSpPr>
          <p:cNvPr id="25" name="Text 19"/>
          <p:cNvSpPr txBox="1"/>
          <p:nvPr/>
        </p:nvSpPr>
        <p:spPr>
          <a:xfrm>
            <a:off x="6245352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ANTHONY CHINEDU ECHEM  •  AMR RESISTANCE PREDICTOR</a:t>
            </a:r>
            <a:endParaRPr lang="en-US" sz="850" dirty="0"/>
          </a:p>
        </p:txBody>
      </p:sp>
      <p:sp>
        <p:nvSpPr>
          <p:cNvPr id="26" name="Text 20"/>
          <p:cNvSpPr txBox="1"/>
          <p:nvPr/>
        </p:nvSpPr>
        <p:spPr>
          <a:xfrm>
            <a:off x="117317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38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754880" cy="4754880"/>
          </a:xfrm>
          <a:prstGeom prst="ellipse">
            <a:avLst/>
          </a:prstGeom>
          <a:solidFill>
            <a:srgbClr val="1F3F60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4206240" cy="4206240"/>
          </a:xfrm>
          <a:prstGeom prst="ellipse">
            <a:avLst/>
          </a:prstGeom>
          <a:solidFill>
            <a:srgbClr val="0C1F3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D6A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229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rigorous, honest case for ML-assisted</a:t>
            </a:r>
            <a:endParaRPr lang="en-US" sz="27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antimicrobial stewardship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2615184" cy="1188720"/>
          </a:xfrm>
          <a:prstGeom prst="roundRect">
            <a:avLst>
              <a:gd name="adj" fmla="val 5385"/>
            </a:avLst>
          </a:prstGeom>
          <a:solidFill>
            <a:srgbClr val="1F3F60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68296"/>
            <a:ext cx="420624" cy="420624"/>
          </a:xfrm>
          <a:prstGeom prst="ellipse">
            <a:avLst/>
          </a:prstGeom>
          <a:solidFill>
            <a:srgbClr val="D6A94A"/>
          </a:solidFill>
          <a:ln/>
        </p:spPr>
      </p:sp>
      <p:pic>
        <p:nvPicPr>
          <p:cNvPr id="8" name="Image 0" descr="/home/claude/icons/trending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435" y="2418771"/>
            <a:ext cx="319674" cy="31967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4672" y="28986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+43.4% lift over baseline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56432" y="2148840"/>
            <a:ext cx="2615184" cy="1188720"/>
          </a:xfrm>
          <a:prstGeom prst="roundRect">
            <a:avLst>
              <a:gd name="adj" fmla="val 5385"/>
            </a:avLst>
          </a:prstGeom>
          <a:solidFill>
            <a:srgbClr val="1F3F60"/>
          </a:solidFill>
          <a:ln/>
        </p:spPr>
      </p:sp>
      <p:sp>
        <p:nvSpPr>
          <p:cNvPr id="11" name="Shape 8"/>
          <p:cNvSpPr/>
          <p:nvPr/>
        </p:nvSpPr>
        <p:spPr>
          <a:xfrm>
            <a:off x="3639312" y="2368296"/>
            <a:ext cx="420624" cy="420624"/>
          </a:xfrm>
          <a:prstGeom prst="ellipse">
            <a:avLst/>
          </a:prstGeom>
          <a:solidFill>
            <a:srgbClr val="D6A94A"/>
          </a:solidFill>
          <a:ln/>
        </p:spPr>
      </p:sp>
      <p:pic>
        <p:nvPicPr>
          <p:cNvPr id="12" name="Image 1" descr="/home/claude/icons/aler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787" y="2418771"/>
            <a:ext cx="319674" cy="3196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21024" y="28986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78.2% MDRO recall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72784" y="2148840"/>
            <a:ext cx="2615184" cy="1188720"/>
          </a:xfrm>
          <a:prstGeom prst="roundRect">
            <a:avLst>
              <a:gd name="adj" fmla="val 5385"/>
            </a:avLst>
          </a:prstGeom>
          <a:solidFill>
            <a:srgbClr val="1F3F60"/>
          </a:solidFill>
          <a:ln/>
        </p:spPr>
      </p:sp>
      <p:sp>
        <p:nvSpPr>
          <p:cNvPr id="15" name="Shape 11"/>
          <p:cNvSpPr/>
          <p:nvPr/>
        </p:nvSpPr>
        <p:spPr>
          <a:xfrm>
            <a:off x="6455664" y="2368296"/>
            <a:ext cx="420624" cy="420624"/>
          </a:xfrm>
          <a:prstGeom prst="ellipse">
            <a:avLst/>
          </a:prstGeom>
          <a:solidFill>
            <a:srgbClr val="D6A94A"/>
          </a:solidFill>
          <a:ln/>
        </p:spPr>
      </p:sp>
      <p:pic>
        <p:nvPicPr>
          <p:cNvPr id="16" name="Image 2" descr="/home/claude/icons/refresh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139" y="2418771"/>
            <a:ext cx="319674" cy="31967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37376" y="28986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1.29% drift over 30 months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9089136" y="2148840"/>
            <a:ext cx="2615184" cy="1188720"/>
          </a:xfrm>
          <a:prstGeom prst="roundRect">
            <a:avLst>
              <a:gd name="adj" fmla="val 5385"/>
            </a:avLst>
          </a:prstGeom>
          <a:solidFill>
            <a:srgbClr val="1F3F60"/>
          </a:solidFill>
          <a:ln/>
        </p:spPr>
      </p:sp>
      <p:sp>
        <p:nvSpPr>
          <p:cNvPr id="19" name="Shape 14"/>
          <p:cNvSpPr/>
          <p:nvPr/>
        </p:nvSpPr>
        <p:spPr>
          <a:xfrm>
            <a:off x="9272016" y="2368296"/>
            <a:ext cx="420624" cy="420624"/>
          </a:xfrm>
          <a:prstGeom prst="ellipse">
            <a:avLst/>
          </a:prstGeom>
          <a:solidFill>
            <a:srgbClr val="D6A94A"/>
          </a:solidFill>
          <a:ln/>
        </p:spPr>
      </p:sp>
      <p:pic>
        <p:nvPicPr>
          <p:cNvPr id="20" name="Image 3" descr="/home/claude/icons/shiel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2491" y="2418771"/>
            <a:ext cx="319674" cy="31967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253728" y="28986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Pharmacist-gated by design</a:t>
            </a:r>
            <a:endParaRPr lang="en-US" sz="115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611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6A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Skills demonstrated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39319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DCEE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Multi-label clinical ML  •  temporal / rolling-origin validation  •  feature engineering under leakage constraints  •  model documentation &amp; responsible-AI framing  •  stakeholder-ready dashboarding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40080" y="4892040"/>
            <a:ext cx="2743200" cy="18288"/>
          </a:xfrm>
          <a:prstGeom prst="rect">
            <a:avLst/>
          </a:prstGeom>
          <a:solidFill>
            <a:srgbClr val="D6A94A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640080" y="50749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Anthony Chinedu Echem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640080" y="5486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Machine Learning Engineer &amp; Data Scientist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640080" y="5989320"/>
            <a:ext cx="365760" cy="365760"/>
          </a:xfrm>
          <a:prstGeom prst="ellipse">
            <a:avLst/>
          </a:prstGeom>
          <a:solidFill>
            <a:srgbClr val="1F3F60"/>
          </a:solidFill>
          <a:ln/>
        </p:spPr>
      </p:sp>
      <p:pic>
        <p:nvPicPr>
          <p:cNvPr id="28" name="Image 4" descr="/home/claude/icons/mail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971" y="6033211"/>
            <a:ext cx="277978" cy="27797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9728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Portfolio contact available on request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8686800" y="5989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D6A9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31" name="Text 24"/>
          <p:cNvSpPr txBox="1"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850" dirty="0"/>
          </a:p>
        </p:txBody>
      </p:sp>
      <p:sp>
        <p:nvSpPr>
          <p:cNvPr id="32" name="Text 25"/>
          <p:cNvSpPr txBox="1"/>
          <p:nvPr/>
        </p:nvSpPr>
        <p:spPr>
          <a:xfrm>
            <a:off x="6245352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ANTHONY CHINEDU ECHEM  •  AMR RESISTANCE PREDICTOR</a:t>
            </a:r>
            <a:endParaRPr lang="en-US" sz="850" dirty="0"/>
          </a:p>
        </p:txBody>
      </p:sp>
      <p:sp>
        <p:nvSpPr>
          <p:cNvPr id="33" name="Text 26"/>
          <p:cNvSpPr txBox="1"/>
          <p:nvPr/>
        </p:nvSpPr>
        <p:spPr>
          <a:xfrm>
            <a:off x="11731752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5A0A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Antimicrobial Resistance Predictor</dc:title>
  <dc:subject>PptxGenJS Presentation</dc:subject>
  <dc:creator>Anthony Chinedu Echem</dc:creator>
  <cp:lastModifiedBy>Anthony Chinedu Echem</cp:lastModifiedBy>
  <cp:revision>1</cp:revision>
  <dcterms:created xsi:type="dcterms:W3CDTF">2026-09-07T23:43:14Z</dcterms:created>
  <dcterms:modified xsi:type="dcterms:W3CDTF">2026-09-07T23:43:14Z</dcterms:modified>
</cp:coreProperties>
</file>